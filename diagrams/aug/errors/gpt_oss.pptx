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586" y="-15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958054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048210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538918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FBDB0D-4B9C-498E-9619-33EBE6CBBBDD}" type="datetimeFigureOut">
              <a:rPr lang="en-IN" smtClean="0"/>
              <a:t>01-08-2026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444223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FBDB0D-4B9C-498E-9619-33EBE6CBBBDD}" type="datetimeFigureOut">
              <a:rPr lang="en-IN" smtClean="0"/>
              <a:t>01-08-2026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75079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BDB0D-4B9C-498E-9619-33EBE6CBBBDD}" type="datetimeFigureOut">
              <a:rPr lang="en-IN" smtClean="0"/>
              <a:t>01-08-2026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145128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BDB0D-4B9C-498E-9619-33EBE6CBBBDD}" type="datetimeFigureOut">
              <a:rPr lang="en-IN" smtClean="0"/>
              <a:t>01-08-2026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3885315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3FBDB0D-4B9C-498E-9619-33EBE6CBBBDD}" type="datetimeFigureOut">
              <a:rPr lang="en-IN" smtClean="0"/>
              <a:t>01-08-2026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445038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3FBDB0D-4B9C-498E-9619-33EBE6CBBBDD}" type="datetimeFigureOut">
              <a:rPr lang="en-IN" smtClean="0"/>
              <a:t>01-08-2026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304331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3108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1098417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75000"/>
                  </a:schemeClr>
                </a:solidFill>
              </a:defRPr>
            </a:lvl1pPr>
          </a:lstStyle>
          <a:p>
            <a:fld id="{53FBDB0D-4B9C-498E-9619-33EBE6CBBBDD}" type="datetimeFigureOut">
              <a:rPr lang="en-IN" smtClean="0"/>
              <a:t>01-08-2026</a:t>
            </a:fld>
            <a:endParaRPr lang="en-IN"/>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75000"/>
                  </a:schemeClr>
                </a:solidFill>
              </a:defRPr>
            </a:lvl1pPr>
          </a:lstStyle>
          <a:p>
            <a:fld id="{25E9A957-5C75-4D4C-85D7-F5CE3274B0A5}" type="slidenum">
              <a:rPr lang="en-IN" smtClean="0"/>
              <a:t>‹#›</a:t>
            </a:fld>
            <a:endParaRPr lang="en-IN"/>
          </a:p>
        </p:txBody>
      </p:sp>
    </p:spTree>
    <p:extLst>
      <p:ext uri="{BB962C8B-B14F-4D97-AF65-F5344CB8AC3E}">
        <p14:creationId xmlns:p14="http://schemas.microsoft.com/office/powerpoint/2010/main" val="38071854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7B539D08-B13C-6385-A8C8-72B746C83124}"/>
              </a:ext>
            </a:extLst>
          </p:cNvPr>
          <p:cNvGraphicFramePr>
            <a:graphicFrameLocks noGrp="1"/>
          </p:cNvGraphicFramePr>
          <p:nvPr>
            <p:extLst>
              <p:ext uri="{D42A27DB-BD31-4B8C-83A1-F6EECF244321}">
                <p14:modId xmlns:p14="http://schemas.microsoft.com/office/powerpoint/2010/main" val="3957031552"/>
              </p:ext>
            </p:extLst>
          </p:nvPr>
        </p:nvGraphicFramePr>
        <p:xfrm>
          <a:off x="138794" y="1445468"/>
          <a:ext cx="6580412" cy="3998102"/>
        </p:xfrm>
        <a:graphic>
          <a:graphicData uri="http://schemas.openxmlformats.org/drawingml/2006/table">
            <a:tbl>
              <a:tblPr firstRow="1" bandRow="1">
                <a:tableStyleId>{93296810-A885-4BE3-A3E7-6D5BEEA58F35}</a:tableStyleId>
              </a:tblPr>
              <a:tblGrid>
                <a:gridCol w="636811">
                  <a:extLst>
                    <a:ext uri="{9D8B030D-6E8A-4147-A177-3AD203B41FA5}">
                      <a16:colId xmlns:a16="http://schemas.microsoft.com/office/drawing/2014/main" xmlns="" val="20000"/>
                    </a:ext>
                  </a:extLst>
                </a:gridCol>
                <a:gridCol w="1755324">
                  <a:extLst>
                    <a:ext uri="{9D8B030D-6E8A-4147-A177-3AD203B41FA5}">
                      <a16:colId xmlns:a16="http://schemas.microsoft.com/office/drawing/2014/main" xmlns="" val="20001"/>
                    </a:ext>
                  </a:extLst>
                </a:gridCol>
                <a:gridCol w="2090057">
                  <a:extLst>
                    <a:ext uri="{9D8B030D-6E8A-4147-A177-3AD203B41FA5}">
                      <a16:colId xmlns:a16="http://schemas.microsoft.com/office/drawing/2014/main" xmlns="" val="20002"/>
                    </a:ext>
                  </a:extLst>
                </a:gridCol>
                <a:gridCol w="2098220">
                  <a:extLst>
                    <a:ext uri="{9D8B030D-6E8A-4147-A177-3AD203B41FA5}">
                      <a16:colId xmlns:a16="http://schemas.microsoft.com/office/drawing/2014/main" xmlns="" val="20003"/>
                    </a:ext>
                  </a:extLst>
                </a:gridCol>
              </a:tblGrid>
              <a:tr h="515307">
                <a:tc>
                  <a:txBody>
                    <a:bodyPr/>
                    <a:lstStyle/>
                    <a:p>
                      <a:r>
                        <a:rPr lang="en-US" sz="1100" b="1" dirty="0">
                          <a:solidFill>
                            <a:schemeClr val="bg1"/>
                          </a:solidFill>
                        </a:rPr>
                        <a:t>Error </a:t>
                      </a:r>
                    </a:p>
                    <a:p>
                      <a:r>
                        <a:rPr lang="en-US" sz="1100" b="1" dirty="0">
                          <a:solidFill>
                            <a:schemeClr val="bg1"/>
                          </a:solidFill>
                        </a:rPr>
                        <a:t>Type</a:t>
                      </a:r>
                      <a:endParaRPr lang="en-GB" sz="1100" b="1" dirty="0">
                        <a:solidFill>
                          <a:schemeClr val="bg1"/>
                        </a:solidFill>
                        <a:latin typeface="+mn-lt"/>
                        <a:cs typeface="Times New Roman" panose="02020603050405020304" pitchFamily="18" charset="0"/>
                      </a:endParaRPr>
                    </a:p>
                  </a:txBody>
                  <a:tcPr marT="45721" marB="45721"/>
                </a:tc>
                <a:tc>
                  <a:txBody>
                    <a:bodyPr/>
                    <a:lstStyle/>
                    <a:p>
                      <a:r>
                        <a:rPr lang="en-US" sz="1100" b="1" dirty="0">
                          <a:solidFill>
                            <a:schemeClr val="bg1"/>
                          </a:solidFill>
                        </a:rPr>
                        <a:t>Source Language: Sanskrit</a:t>
                      </a:r>
                    </a:p>
                    <a:p>
                      <a:endParaRPr lang="en-GB" sz="1050" b="0" dirty="0">
                        <a:solidFill>
                          <a:schemeClr val="bg1"/>
                        </a:solidFill>
                        <a:latin typeface="+mn-lt"/>
                        <a:cs typeface="Times New Roman" panose="02020603050405020304" pitchFamily="18" charset="0"/>
                      </a:endParaRPr>
                    </a:p>
                  </a:txBody>
                  <a:tcPr marT="45721" marB="45721"/>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1" dirty="0">
                          <a:solidFill>
                            <a:schemeClr val="bg1"/>
                          </a:solidFill>
                        </a:rPr>
                        <a:t>LLM Hallucination</a:t>
                      </a:r>
                    </a:p>
                    <a:p>
                      <a:r>
                        <a:rPr lang="en-US" sz="1100" b="1" dirty="0">
                          <a:solidFill>
                            <a:schemeClr val="bg1"/>
                          </a:solidFill>
                        </a:rPr>
                        <a:t>Target Language:   Hindi</a:t>
                      </a:r>
                    </a:p>
                    <a:p>
                      <a:endParaRPr lang="en-US" sz="1050" b="0" dirty="0">
                        <a:solidFill>
                          <a:schemeClr val="bg1"/>
                        </a:solidFill>
                        <a:latin typeface="+mn-lt"/>
                        <a:cs typeface="Times New Roman" panose="02020603050405020304" pitchFamily="18" charset="0"/>
                      </a:endParaRPr>
                    </a:p>
                  </a:txBody>
                  <a:tcPr marT="45721" marB="45721"/>
                </a:tc>
                <a:tc>
                  <a:txBody>
                    <a:bodyPr/>
                    <a:lstStyle/>
                    <a:p>
                      <a:r>
                        <a:rPr lang="en-US" sz="1100" b="1" dirty="0">
                          <a:solidFill>
                            <a:schemeClr val="bg1"/>
                          </a:solidFill>
                        </a:rPr>
                        <a:t>Explanation</a:t>
                      </a:r>
                      <a:endParaRPr lang="en-GB" sz="1100" b="1" dirty="0">
                        <a:solidFill>
                          <a:schemeClr val="bg1"/>
                        </a:solidFill>
                        <a:latin typeface="+mn-lt"/>
                        <a:cs typeface="Times New Roman" panose="02020603050405020304" pitchFamily="18" charset="0"/>
                      </a:endParaRPr>
                    </a:p>
                  </a:txBody>
                  <a:tcPr marT="45721" marB="45721"/>
                </a:tc>
                <a:extLst>
                  <a:ext uri="{0D108BD9-81ED-4DB2-BD59-A6C34878D82A}">
                    <a16:rowId xmlns:a16="http://schemas.microsoft.com/office/drawing/2014/main" xmlns="" val="10000"/>
                  </a:ext>
                </a:extLst>
              </a:tr>
              <a:tr h="508615">
                <a:tc>
                  <a:txBody>
                    <a:bodyPr/>
                    <a:lstStyle/>
                    <a:p>
                      <a:r>
                        <a:rPr lang="en-US" sz="700" b="1" dirty="0"/>
                        <a:t>Location</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यथा </a:t>
                      </a:r>
                      <a:r>
                        <a:rPr lang="hi-IN" sz="700" b="0" kern="1200" dirty="0">
                          <a:solidFill>
                            <a:srgbClr val="FF0000"/>
                          </a:solidFill>
                          <a:effectLst/>
                        </a:rPr>
                        <a:t>ऐरोप्य-अमेरिकीय-सिनेमाक्षेत्रम्</a:t>
                      </a:r>
                      <a:r>
                        <a:rPr lang="hi-IN" sz="700" b="0" kern="1200" dirty="0">
                          <a:solidFill>
                            <a:schemeClr val="dk1"/>
                          </a:solidFill>
                          <a:effectLst/>
                        </a:rPr>
                        <a:t>, एवमेव भारतीय-सिनेमाक्षेत्रस्य शताधिकवर्षाणां इतिहासः वर्तते।</a:t>
                      </a:r>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chemeClr val="dk1"/>
                          </a:solidFill>
                          <a:effectLst/>
                        </a:rPr>
                        <a:t>जैसे </a:t>
                      </a:r>
                      <a:r>
                        <a:rPr lang="hi-IN" sz="700" b="0" kern="1200" dirty="0">
                          <a:solidFill>
                            <a:srgbClr val="FF0000"/>
                          </a:solidFill>
                          <a:effectLst/>
                        </a:rPr>
                        <a:t>अमेरिका का सिनेमा क्षेत्र </a:t>
                      </a:r>
                      <a:r>
                        <a:rPr lang="hi-IN" sz="700" b="0" kern="1200" dirty="0">
                          <a:solidFill>
                            <a:schemeClr val="dk1"/>
                          </a:solidFill>
                          <a:effectLst/>
                        </a:rPr>
                        <a:t>है, वैसे ही भारतीय सिनेमा क्षेत्र का सैकड़ों वर्षों का इतिहास है।</a:t>
                      </a:r>
                      <a:endParaRPr lang="hi-IN" sz="700" b="0" kern="1200" dirty="0">
                        <a:solidFill>
                          <a:schemeClr val="dk1"/>
                        </a:solidFill>
                        <a:effectLst/>
                        <a:latin typeface="+mn-lt"/>
                        <a:ea typeface="+mn-ea"/>
                        <a:cs typeface="+mn-cs"/>
                      </a:endParaRPr>
                    </a:p>
                  </a:txBody>
                  <a:tcPr marT="45721" marB="45721"/>
                </a:tc>
                <a:tc>
                  <a:txBody>
                    <a:bodyPr/>
                    <a:lstStyle/>
                    <a:p>
                      <a:r>
                        <a:rPr lang="en-US" sz="800" b="0" dirty="0" smtClean="0"/>
                        <a:t>The model omitted the "Euro" part from the compound word "Euro-American," missing a key geographic region.</a:t>
                      </a:r>
                      <a:endParaRPr lang="en-US"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1"/>
                  </a:ext>
                </a:extLst>
              </a:tr>
              <a:tr h="345478">
                <a:tc>
                  <a:txBody>
                    <a:bodyPr/>
                    <a:lstStyle/>
                    <a:p>
                      <a:r>
                        <a:rPr lang="en-GB" sz="700" b="1" dirty="0"/>
                        <a:t>Negation</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मध्यावधिषु निर्वाचनेषु हानीनां सप्ताहपश्चात् बुशमहोदयः आशियादेशे </a:t>
                      </a:r>
                      <a:r>
                        <a:rPr lang="hi-IN" sz="700" b="0" kern="1200" dirty="0">
                          <a:solidFill>
                            <a:schemeClr val="tx1"/>
                          </a:solidFill>
                          <a:effectLst/>
                        </a:rPr>
                        <a:t>व्यपारस्य विस्तारविषये प्रेक्षकेभ्यः</a:t>
                      </a:r>
                      <a:r>
                        <a:rPr lang="hi-IN" sz="700" b="0" kern="1200" dirty="0">
                          <a:solidFill>
                            <a:srgbClr val="FF0000"/>
                          </a:solidFill>
                          <a:effectLst/>
                        </a:rPr>
                        <a:t> अकथयत्</a:t>
                      </a:r>
                      <a:r>
                        <a:rPr lang="hi-IN" sz="700" b="0" kern="1200" dirty="0">
                          <a:solidFill>
                            <a:schemeClr val="dk1"/>
                          </a:solidFill>
                          <a:effectLst/>
                        </a:rPr>
                        <a:t>।</a:t>
                      </a:r>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chemeClr val="dk1"/>
                          </a:solidFill>
                          <a:effectLst/>
                        </a:rPr>
                        <a:t>मध्यावधियों में चुनावों में हानियों के एक सप्ताह पश्चात्, बुश महोदय ने आशियादेश में </a:t>
                      </a:r>
                      <a:r>
                        <a:rPr lang="hi-IN" sz="700" b="0" kern="1200" dirty="0">
                          <a:solidFill>
                            <a:schemeClr val="tx1"/>
                          </a:solidFill>
                          <a:effectLst/>
                        </a:rPr>
                        <a:t>व्यापार विस्तार के विषय में दर्शकों को </a:t>
                      </a:r>
                      <a:r>
                        <a:rPr lang="hi-IN" sz="700" b="0" kern="1200" dirty="0">
                          <a:solidFill>
                            <a:srgbClr val="FF0000"/>
                          </a:solidFill>
                          <a:effectLst/>
                        </a:rPr>
                        <a:t>कुछ नहीं कहा</a:t>
                      </a:r>
                      <a:r>
                        <a:rPr lang="hi-IN" sz="700" b="0" kern="1200" dirty="0">
                          <a:solidFill>
                            <a:schemeClr val="dk1"/>
                          </a:solidFill>
                          <a:effectLst/>
                        </a:rPr>
                        <a:t>।</a:t>
                      </a:r>
                      <a:endParaRPr lang="hi-IN" sz="700" b="0" kern="1200" dirty="0">
                        <a:solidFill>
                          <a:schemeClr val="dk1"/>
                        </a:solidFill>
                        <a:effectLst/>
                        <a:latin typeface="+mn-lt"/>
                        <a:ea typeface="+mn-ea"/>
                        <a:cs typeface="+mn-cs"/>
                      </a:endParaRPr>
                    </a:p>
                  </a:txBody>
                  <a:tcPr marT="45721" marB="45721"/>
                </a:tc>
                <a:tc>
                  <a:txBody>
                    <a:bodyPr/>
                    <a:lstStyle/>
                    <a:p>
                      <a:r>
                        <a:rPr lang="en-US" sz="800" b="0" dirty="0" smtClean="0"/>
                        <a:t>The model added an extra negative word to the sentence, completely flipping the original meaning.</a:t>
                      </a:r>
                      <a:endParaRPr lang="en-IN"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2"/>
                  </a:ext>
                </a:extLst>
              </a:tr>
              <a:tr h="736152">
                <a:tc>
                  <a:txBody>
                    <a:bodyPr/>
                    <a:lstStyle/>
                    <a:p>
                      <a:r>
                        <a:rPr lang="en-GB" sz="700" b="1" dirty="0"/>
                        <a:t>Number</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rgbClr val="FF0000"/>
                          </a:solidFill>
                          <a:effectLst/>
                        </a:rPr>
                        <a:t>78 </a:t>
                      </a:r>
                      <a:r>
                        <a:rPr lang="hi-IN" sz="700" b="0" kern="1200" dirty="0">
                          <a:solidFill>
                            <a:schemeClr val="tx1"/>
                          </a:solidFill>
                          <a:effectLst/>
                        </a:rPr>
                        <a:t>संस्तुतिषु विद्यमाना प्रथमा संस्तुतिः अस्ति यत् नूतनः राजनयिकः उपक्रमः अस्य वर्षस्य समाप्तिपूर्वं प्रारभ्यः येन ईराकदेशस्य सीमाः आक्रमकान्तरायात् सुरक्षिताः स्युः तथा च तस्य सीमावर्तिदेशैः सह राजनयिकसम्बन्धानां पुनःस्थापना स्यात्।</a:t>
                      </a:r>
                      <a:endParaRPr lang="hi-IN" sz="700" b="0" kern="1200" dirty="0">
                        <a:solidFill>
                          <a:schemeClr val="tx1"/>
                        </a:solidFill>
                        <a:effectLst/>
                        <a:latin typeface="+mn-lt"/>
                        <a:ea typeface="+mn-ea"/>
                        <a:cs typeface="+mn-cs"/>
                      </a:endParaRPr>
                    </a:p>
                  </a:txBody>
                  <a:tcPr marT="45721" marB="45721"/>
                </a:tc>
                <a:tc>
                  <a:txBody>
                    <a:bodyPr/>
                    <a:lstStyle/>
                    <a:p>
                      <a:r>
                        <a:rPr lang="hi-IN" sz="700" b="0" kern="1200" dirty="0">
                          <a:solidFill>
                            <a:schemeClr val="tx1"/>
                          </a:solidFill>
                          <a:effectLst/>
                        </a:rPr>
                        <a:t>संस्तृतियों में प्रमुख रूप से यह कहा गया है कि वर्तमान वर्ष के समाप्ति से पहले आरम्भ हुई नवीन कूटनीति पहल इराक के सीमाओं को आक्रमणकारियों से सुरक्षित करेगी तथा उसके सीमा-स्थलीय देशों के साथ कूटनीतिक संबंधों को पुनः स्थापित करेगी।</a:t>
                      </a:r>
                      <a:endParaRPr lang="hi-IN" sz="700" b="0" kern="1200" dirty="0">
                        <a:solidFill>
                          <a:schemeClr val="tx1"/>
                        </a:solidFill>
                        <a:effectLst/>
                        <a:latin typeface="+mn-lt"/>
                        <a:ea typeface="+mn-ea"/>
                        <a:cs typeface="+mn-cs"/>
                      </a:endParaRPr>
                    </a:p>
                  </a:txBody>
                  <a:tcPr marT="45721" marB="45721"/>
                </a:tc>
                <a:tc>
                  <a:txBody>
                    <a:bodyPr/>
                    <a:lstStyle/>
                    <a:p>
                      <a:r>
                        <a:rPr lang="en-US" sz="800" b="0" dirty="0" smtClean="0">
                          <a:solidFill>
                            <a:schemeClr val="tx1"/>
                          </a:solidFill>
                        </a:rPr>
                        <a:t>The model dropped the specific count of "78" from the text entirely.</a:t>
                      </a:r>
                      <a:endParaRPr lang="en-US" sz="800" b="0" dirty="0">
                        <a:solidFill>
                          <a:schemeClr val="tx1"/>
                        </a:solidFill>
                        <a:latin typeface="+mn-lt"/>
                        <a:cs typeface="Times New Roman" panose="02020603050405020304" pitchFamily="18" charset="0"/>
                      </a:endParaRPr>
                    </a:p>
                  </a:txBody>
                  <a:tcPr marT="45721" marB="45721"/>
                </a:tc>
                <a:extLst>
                  <a:ext uri="{0D108BD9-81ED-4DB2-BD59-A6C34878D82A}">
                    <a16:rowId xmlns:a16="http://schemas.microsoft.com/office/drawing/2014/main" xmlns="" val="10004"/>
                  </a:ext>
                </a:extLst>
              </a:tr>
              <a:tr h="642460">
                <a:tc>
                  <a:txBody>
                    <a:bodyPr/>
                    <a:lstStyle/>
                    <a:p>
                      <a:r>
                        <a:rPr lang="en-GB" sz="700" b="1" dirty="0"/>
                        <a:t>Person</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पेनसिल्वानियाराज्यस्य बालरुग्णालयं पिट्सबर्ग इत्यत्र कार्यं कृतवान् चिकित्सिका उद्दीप्तायै हत्यायै अभियुक्ता यदा </a:t>
                      </a:r>
                      <a:r>
                        <a:rPr lang="hi-IN" sz="700" b="0" kern="1200" dirty="0">
                          <a:solidFill>
                            <a:srgbClr val="FF0000"/>
                          </a:solidFill>
                          <a:effectLst/>
                        </a:rPr>
                        <a:t>तस्याः मता </a:t>
                      </a:r>
                      <a:r>
                        <a:rPr lang="hi-IN" sz="700" b="0" kern="1200" dirty="0">
                          <a:solidFill>
                            <a:schemeClr val="dk1"/>
                          </a:solidFill>
                          <a:effectLst/>
                        </a:rPr>
                        <a:t>तस्याः यनस्य पृष्ठे कोशे बुधवासरे मृता प्राप्ता इति ओहयोनगरस्य अधिकारिणः वदन्ति।</a:t>
                      </a:r>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chemeClr val="dk1"/>
                          </a:solidFill>
                          <a:effectLst/>
                        </a:rPr>
                        <a:t>पेनसिल्वेनिया राज्य के पिट्सबर्ग में स्थित बालरोग अस्पताल में एक चिकित्सिका को हत्या के आरोप में अभियुक्त किया गया। उसके अनुसार, </a:t>
                      </a:r>
                      <a:r>
                        <a:rPr lang="hi-IN" sz="700" b="0" kern="1200" dirty="0">
                          <a:solidFill>
                            <a:srgbClr val="FF0000"/>
                          </a:solidFill>
                          <a:effectLst/>
                        </a:rPr>
                        <a:t>उसके पति</a:t>
                      </a:r>
                      <a:r>
                        <a:rPr lang="hi-IN" sz="700" b="0" kern="1200" dirty="0">
                          <a:solidFill>
                            <a:schemeClr val="dk1"/>
                          </a:solidFill>
                          <a:effectLst/>
                        </a:rPr>
                        <a:t> का शरीर बुध को मिला और उसे मृत पाया गया। ओहायोनगर के अधिकारी यह बात कह रहे हैं।</a:t>
                      </a:r>
                      <a:endParaRPr lang="hi-IN" sz="700" b="0" kern="1200" dirty="0">
                        <a:solidFill>
                          <a:schemeClr val="dk1"/>
                        </a:solidFill>
                        <a:effectLst/>
                        <a:latin typeface="+mn-lt"/>
                        <a:ea typeface="+mn-ea"/>
                        <a:cs typeface="+mn-cs"/>
                      </a:endParaRPr>
                    </a:p>
                  </a:txBody>
                  <a:tcPr marT="45721" marB="4572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dirty="0"/>
                        <a:t>The model hallucinated an entirely non-existent character (her husband</a:t>
                      </a:r>
                      <a:r>
                        <a:rPr lang="en-US" sz="800" b="0" dirty="0" smtClean="0"/>
                        <a:t>).</a:t>
                      </a:r>
                      <a:endParaRPr lang="en-US"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6"/>
                  </a:ext>
                </a:extLst>
              </a:tr>
              <a:tr h="548769">
                <a:tc>
                  <a:txBody>
                    <a:bodyPr/>
                    <a:lstStyle/>
                    <a:p>
                      <a:r>
                        <a:rPr lang="en-GB" sz="700" b="1" dirty="0"/>
                        <a:t>Script</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२०११ तमे वर्षे, कश्यपः </a:t>
                      </a:r>
                      <a:r>
                        <a:rPr lang="hi-IN" sz="700" b="0" kern="1200" dirty="0">
                          <a:solidFill>
                            <a:srgbClr val="FF0000"/>
                          </a:solidFill>
                          <a:effectLst/>
                        </a:rPr>
                        <a:t>दट्-गर्ल्-इन्-येल्लो-बूट्स् </a:t>
                      </a:r>
                      <a:r>
                        <a:rPr lang="hi-IN" sz="700" b="0" kern="1200" dirty="0">
                          <a:solidFill>
                            <a:schemeClr val="dk1"/>
                          </a:solidFill>
                          <a:effectLst/>
                        </a:rPr>
                        <a:t>इत्येतं चित्रं निर्देशितवान्, इदं च कल्की कोश्लिन् इत्यनया अभिनीतं थ्रिल्लर्-चित्रमासीत्, यस्य सापि सहलेखिका आसीत्।</a:t>
                      </a:r>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chemeClr val="dk1"/>
                          </a:solidFill>
                          <a:effectLst/>
                        </a:rPr>
                        <a:t>२०११ में कश्यप ने “</a:t>
                      </a:r>
                      <a:r>
                        <a:rPr lang="en-IN" sz="700" b="0" kern="1200" dirty="0">
                          <a:solidFill>
                            <a:srgbClr val="FF0000"/>
                          </a:solidFill>
                          <a:effectLst/>
                        </a:rPr>
                        <a:t>Dad Girl in Yellow Boots</a:t>
                      </a:r>
                      <a:r>
                        <a:rPr lang="en-IN" sz="700" b="0" kern="1200" dirty="0">
                          <a:solidFill>
                            <a:schemeClr val="dk1"/>
                          </a:solidFill>
                          <a:effectLst/>
                        </a:rPr>
                        <a:t>” </a:t>
                      </a:r>
                      <a:r>
                        <a:rPr lang="hi-IN" sz="700" b="0" kern="1200" dirty="0">
                          <a:solidFill>
                            <a:schemeClr val="dk1"/>
                          </a:solidFill>
                          <a:effectLst/>
                        </a:rPr>
                        <a:t>नामक फ़िल्म का निर्देशन किया, जिसमें कल्की कोश्लिन ने प्रदर्शन किया और यह एक थ्रिलर फ़िल्म थी, जिसकी सह‑लेखिका भी वही थी।</a:t>
                      </a:r>
                      <a:endParaRPr lang="hi-IN" sz="700" b="0" kern="1200" dirty="0">
                        <a:solidFill>
                          <a:schemeClr val="dk1"/>
                        </a:solidFill>
                        <a:effectLst/>
                        <a:latin typeface="+mn-lt"/>
                        <a:ea typeface="+mn-ea"/>
                        <a:cs typeface="+mn-cs"/>
                      </a:endParaRPr>
                    </a:p>
                  </a:txBody>
                  <a:tcPr marT="45721" marB="45721"/>
                </a:tc>
                <a:tc>
                  <a:txBody>
                    <a:bodyPr/>
                    <a:lstStyle/>
                    <a:p>
                      <a:r>
                        <a:rPr lang="en-US" sz="800" b="0" dirty="0" smtClean="0"/>
                        <a:t>The model incorrectly changed the script from Devanagari to English letters.</a:t>
                      </a:r>
                      <a:endParaRPr lang="en-US"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5"/>
                  </a:ext>
                </a:extLst>
              </a:tr>
              <a:tr h="499370">
                <a:tc>
                  <a:txBody>
                    <a:bodyPr/>
                    <a:lstStyle/>
                    <a:p>
                      <a:r>
                        <a:rPr lang="en-GB" sz="700" b="1" dirty="0"/>
                        <a:t>Tense</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केचन रुग्णाः कदाचित् रुग्णालये एव विषाणुना सङ्क्रामिताः सन्ति इति डॉ. मोलमहोदयः मन्यते। तेषु न्यूनातिन्यूनं 2 रुग्णालयस्य सेवाकरौ </a:t>
                      </a:r>
                      <a:r>
                        <a:rPr lang="hi-IN" sz="700" b="0" kern="1200" dirty="0">
                          <a:solidFill>
                            <a:srgbClr val="FF0000"/>
                          </a:solidFill>
                          <a:effectLst/>
                        </a:rPr>
                        <a:t>आस्ताम्</a:t>
                      </a:r>
                      <a:r>
                        <a:rPr lang="hi-IN" sz="700" b="0" kern="1200" dirty="0">
                          <a:solidFill>
                            <a:schemeClr val="dk1"/>
                          </a:solidFill>
                          <a:effectLst/>
                        </a:rPr>
                        <a:t>।</a:t>
                      </a:r>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chemeClr val="dk1"/>
                          </a:solidFill>
                          <a:effectLst/>
                        </a:rPr>
                        <a:t>कुछ रोगी, शायद, अस्पताल में ही वायरस से संक्रमित होते हैं, ऐसा डॉ. मोलमहोदय मानते हैं। उनमें न्यूनतम दो अस्पताल के सेवा कर्मी </a:t>
                      </a:r>
                      <a:r>
                        <a:rPr lang="hi-IN" sz="700" b="0" kern="1200" dirty="0">
                          <a:solidFill>
                            <a:srgbClr val="FF0000"/>
                          </a:solidFill>
                          <a:effectLst/>
                        </a:rPr>
                        <a:t>मौजूद होते हैं</a:t>
                      </a:r>
                      <a:r>
                        <a:rPr lang="hi-IN" sz="700" b="0" kern="1200" dirty="0">
                          <a:solidFill>
                            <a:schemeClr val="dk1"/>
                          </a:solidFill>
                          <a:effectLst/>
                        </a:rPr>
                        <a:t>।</a:t>
                      </a:r>
                      <a:endParaRPr lang="hi-IN" sz="700" b="0" kern="1200" dirty="0">
                        <a:solidFill>
                          <a:schemeClr val="dk1"/>
                        </a:solidFill>
                        <a:effectLst/>
                        <a:latin typeface="+mn-lt"/>
                        <a:ea typeface="+mn-ea"/>
                        <a:cs typeface="+mn-cs"/>
                      </a:endParaRPr>
                    </a:p>
                  </a:txBody>
                  <a:tcPr marT="45721" marB="45721"/>
                </a:tc>
                <a:tc>
                  <a:txBody>
                    <a:bodyPr/>
                    <a:lstStyle/>
                    <a:p>
                      <a:r>
                        <a:rPr lang="en-US" sz="800" b="0" dirty="0" smtClean="0"/>
                        <a:t>The model changed the past tense o the present tense.</a:t>
                      </a:r>
                      <a:endParaRPr lang="en-US"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4591002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327</TotalTime>
  <Words>424</Words>
  <Application>Microsoft Office PowerPoint</Application>
  <PresentationFormat>Widescreen</PresentationFormat>
  <Paragraphs>30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Mangal</vt:lpstr>
      <vt:lpstr>Times New Roman</vt:lpstr>
      <vt:lpstr>Office 2013 - 2022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108</cp:revision>
  <dcterms:created xsi:type="dcterms:W3CDTF">2026-05-23T09:06:13Z</dcterms:created>
  <dcterms:modified xsi:type="dcterms:W3CDTF">2026-08-01T08:00:59Z</dcterms:modified>
</cp:coreProperties>
</file>