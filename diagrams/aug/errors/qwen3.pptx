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6858000" cy="12192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25" d="100"/>
          <a:sy n="125" d="100"/>
        </p:scale>
        <p:origin x="1128" y="-35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995312"/>
            <a:ext cx="5829300" cy="4244622"/>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6403623"/>
            <a:ext cx="5143500" cy="2943577"/>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3FBDB0D-4B9C-498E-9619-33EBE6CBBBDD}" type="datetimeFigureOut">
              <a:rPr lang="en-IN" smtClean="0"/>
              <a:t>01-08-2026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E9A957-5C75-4D4C-85D7-F5CE3274B0A5}" type="slidenum">
              <a:rPr lang="en-IN" smtClean="0"/>
              <a:t>‹#›</a:t>
            </a:fld>
            <a:endParaRPr lang="en-IN"/>
          </a:p>
        </p:txBody>
      </p:sp>
    </p:spTree>
    <p:extLst>
      <p:ext uri="{BB962C8B-B14F-4D97-AF65-F5344CB8AC3E}">
        <p14:creationId xmlns:p14="http://schemas.microsoft.com/office/powerpoint/2010/main" val="958054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FBDB0D-4B9C-498E-9619-33EBE6CBBBDD}" type="datetimeFigureOut">
              <a:rPr lang="en-IN" smtClean="0"/>
              <a:t>01-08-2026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E9A957-5C75-4D4C-85D7-F5CE3274B0A5}" type="slidenum">
              <a:rPr lang="en-IN" smtClean="0"/>
              <a:t>‹#›</a:t>
            </a:fld>
            <a:endParaRPr lang="en-IN"/>
          </a:p>
        </p:txBody>
      </p:sp>
    </p:spTree>
    <p:extLst>
      <p:ext uri="{BB962C8B-B14F-4D97-AF65-F5344CB8AC3E}">
        <p14:creationId xmlns:p14="http://schemas.microsoft.com/office/powerpoint/2010/main" val="20482102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3039537"/>
            <a:ext cx="5915025" cy="5071532"/>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8159048"/>
            <a:ext cx="5915025" cy="2666999"/>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FBDB0D-4B9C-498E-9619-33EBE6CBBBDD}" type="datetimeFigureOut">
              <a:rPr lang="en-IN" smtClean="0"/>
              <a:t>01-08-2026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E9A957-5C75-4D4C-85D7-F5CE3274B0A5}" type="slidenum">
              <a:rPr lang="en-IN" smtClean="0"/>
              <a:t>‹#›</a:t>
            </a:fld>
            <a:endParaRPr lang="en-IN"/>
          </a:p>
        </p:txBody>
      </p:sp>
    </p:spTree>
    <p:extLst>
      <p:ext uri="{BB962C8B-B14F-4D97-AF65-F5344CB8AC3E}">
        <p14:creationId xmlns:p14="http://schemas.microsoft.com/office/powerpoint/2010/main" val="25389181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3245556"/>
            <a:ext cx="2914650" cy="7735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3245556"/>
            <a:ext cx="2914650" cy="7735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3FBDB0D-4B9C-498E-9619-33EBE6CBBBDD}" type="datetimeFigureOut">
              <a:rPr lang="en-IN" smtClean="0"/>
              <a:t>01-08-2026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5E9A957-5C75-4D4C-85D7-F5CE3274B0A5}" type="slidenum">
              <a:rPr lang="en-IN" smtClean="0"/>
              <a:t>‹#›</a:t>
            </a:fld>
            <a:endParaRPr lang="en-IN"/>
          </a:p>
        </p:txBody>
      </p:sp>
    </p:spTree>
    <p:extLst>
      <p:ext uri="{BB962C8B-B14F-4D97-AF65-F5344CB8AC3E}">
        <p14:creationId xmlns:p14="http://schemas.microsoft.com/office/powerpoint/2010/main" val="2444223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649114"/>
            <a:ext cx="5915025" cy="2356556"/>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988734"/>
            <a:ext cx="2901255" cy="146473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4453467"/>
            <a:ext cx="2901255" cy="65503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988734"/>
            <a:ext cx="2915543" cy="146473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4453467"/>
            <a:ext cx="2915543" cy="65503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3FBDB0D-4B9C-498E-9619-33EBE6CBBBDD}" type="datetimeFigureOut">
              <a:rPr lang="en-IN" smtClean="0"/>
              <a:t>01-08-2026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5E9A957-5C75-4D4C-85D7-F5CE3274B0A5}" type="slidenum">
              <a:rPr lang="en-IN" smtClean="0"/>
              <a:t>‹#›</a:t>
            </a:fld>
            <a:endParaRPr lang="en-IN"/>
          </a:p>
        </p:txBody>
      </p:sp>
    </p:spTree>
    <p:extLst>
      <p:ext uri="{BB962C8B-B14F-4D97-AF65-F5344CB8AC3E}">
        <p14:creationId xmlns:p14="http://schemas.microsoft.com/office/powerpoint/2010/main" val="2750791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3FBDB0D-4B9C-498E-9619-33EBE6CBBBDD}" type="datetimeFigureOut">
              <a:rPr lang="en-IN" smtClean="0"/>
              <a:t>01-08-2026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5E9A957-5C75-4D4C-85D7-F5CE3274B0A5}" type="slidenum">
              <a:rPr lang="en-IN" smtClean="0"/>
              <a:t>‹#›</a:t>
            </a:fld>
            <a:endParaRPr lang="en-IN"/>
          </a:p>
        </p:txBody>
      </p:sp>
    </p:spTree>
    <p:extLst>
      <p:ext uri="{BB962C8B-B14F-4D97-AF65-F5344CB8AC3E}">
        <p14:creationId xmlns:p14="http://schemas.microsoft.com/office/powerpoint/2010/main" val="145128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BDB0D-4B9C-498E-9619-33EBE6CBBBDD}" type="datetimeFigureOut">
              <a:rPr lang="en-IN" smtClean="0"/>
              <a:t>01-08-2026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5E9A957-5C75-4D4C-85D7-F5CE3274B0A5}" type="slidenum">
              <a:rPr lang="en-IN" smtClean="0"/>
              <a:t>‹#›</a:t>
            </a:fld>
            <a:endParaRPr lang="en-IN"/>
          </a:p>
        </p:txBody>
      </p:sp>
    </p:spTree>
    <p:extLst>
      <p:ext uri="{BB962C8B-B14F-4D97-AF65-F5344CB8AC3E}">
        <p14:creationId xmlns:p14="http://schemas.microsoft.com/office/powerpoint/2010/main" val="3885315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812800"/>
            <a:ext cx="2211884" cy="28448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755425"/>
            <a:ext cx="3471863" cy="8664222"/>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3657600"/>
            <a:ext cx="2211884" cy="677615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3FBDB0D-4B9C-498E-9619-33EBE6CBBBDD}" type="datetimeFigureOut">
              <a:rPr lang="en-IN" smtClean="0"/>
              <a:t>01-08-2026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5E9A957-5C75-4D4C-85D7-F5CE3274B0A5}" type="slidenum">
              <a:rPr lang="en-IN" smtClean="0"/>
              <a:t>‹#›</a:t>
            </a:fld>
            <a:endParaRPr lang="en-IN"/>
          </a:p>
        </p:txBody>
      </p:sp>
    </p:spTree>
    <p:extLst>
      <p:ext uri="{BB962C8B-B14F-4D97-AF65-F5344CB8AC3E}">
        <p14:creationId xmlns:p14="http://schemas.microsoft.com/office/powerpoint/2010/main" val="2445038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812800"/>
            <a:ext cx="2211884" cy="28448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755425"/>
            <a:ext cx="3471863" cy="8664222"/>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3657600"/>
            <a:ext cx="2211884" cy="677615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3FBDB0D-4B9C-498E-9619-33EBE6CBBBDD}" type="datetimeFigureOut">
              <a:rPr lang="en-IN" smtClean="0"/>
              <a:t>01-08-2026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5E9A957-5C75-4D4C-85D7-F5CE3274B0A5}" type="slidenum">
              <a:rPr lang="en-IN" smtClean="0"/>
              <a:t>‹#›</a:t>
            </a:fld>
            <a:endParaRPr lang="en-IN"/>
          </a:p>
        </p:txBody>
      </p:sp>
    </p:spTree>
    <p:extLst>
      <p:ext uri="{BB962C8B-B14F-4D97-AF65-F5344CB8AC3E}">
        <p14:creationId xmlns:p14="http://schemas.microsoft.com/office/powerpoint/2010/main" val="304331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FBDB0D-4B9C-498E-9619-33EBE6CBBBDD}" type="datetimeFigureOut">
              <a:rPr lang="en-IN" smtClean="0"/>
              <a:t>01-08-2026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E9A957-5C75-4D4C-85D7-F5CE3274B0A5}" type="slidenum">
              <a:rPr lang="en-IN" smtClean="0"/>
              <a:t>‹#›</a:t>
            </a:fld>
            <a:endParaRPr lang="en-IN"/>
          </a:p>
        </p:txBody>
      </p:sp>
    </p:spTree>
    <p:extLst>
      <p:ext uri="{BB962C8B-B14F-4D97-AF65-F5344CB8AC3E}">
        <p14:creationId xmlns:p14="http://schemas.microsoft.com/office/powerpoint/2010/main" val="231085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649111"/>
            <a:ext cx="1478756" cy="1033215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649111"/>
            <a:ext cx="4350544" cy="103321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FBDB0D-4B9C-498E-9619-33EBE6CBBBDD}" type="datetimeFigureOut">
              <a:rPr lang="en-IN" smtClean="0"/>
              <a:t>01-08-2026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E9A957-5C75-4D4C-85D7-F5CE3274B0A5}" type="slidenum">
              <a:rPr lang="en-IN" smtClean="0"/>
              <a:t>‹#›</a:t>
            </a:fld>
            <a:endParaRPr lang="en-IN"/>
          </a:p>
        </p:txBody>
      </p:sp>
    </p:spTree>
    <p:extLst>
      <p:ext uri="{BB962C8B-B14F-4D97-AF65-F5344CB8AC3E}">
        <p14:creationId xmlns:p14="http://schemas.microsoft.com/office/powerpoint/2010/main" val="10984179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649114"/>
            <a:ext cx="5915025" cy="235655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3245556"/>
            <a:ext cx="5915025" cy="77357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11300181"/>
            <a:ext cx="1543050" cy="649111"/>
          </a:xfrm>
          <a:prstGeom prst="rect">
            <a:avLst/>
          </a:prstGeom>
        </p:spPr>
        <p:txBody>
          <a:bodyPr vert="horz" lIns="91440" tIns="45720" rIns="91440" bIns="45720" rtlCol="0" anchor="ctr"/>
          <a:lstStyle>
            <a:lvl1pPr algn="l">
              <a:defRPr sz="900">
                <a:solidFill>
                  <a:schemeClr val="tx1">
                    <a:tint val="75000"/>
                  </a:schemeClr>
                </a:solidFill>
              </a:defRPr>
            </a:lvl1pPr>
          </a:lstStyle>
          <a:p>
            <a:fld id="{53FBDB0D-4B9C-498E-9619-33EBE6CBBBDD}" type="datetimeFigureOut">
              <a:rPr lang="en-IN" smtClean="0"/>
              <a:t>01-08-2026</a:t>
            </a:fld>
            <a:endParaRPr lang="en-IN"/>
          </a:p>
        </p:txBody>
      </p:sp>
      <p:sp>
        <p:nvSpPr>
          <p:cNvPr id="5" name="Footer Placeholder 4"/>
          <p:cNvSpPr>
            <a:spLocks noGrp="1"/>
          </p:cNvSpPr>
          <p:nvPr>
            <p:ph type="ftr" sz="quarter" idx="3"/>
          </p:nvPr>
        </p:nvSpPr>
        <p:spPr>
          <a:xfrm>
            <a:off x="2271713" y="11300181"/>
            <a:ext cx="2314575" cy="649111"/>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43463" y="11300181"/>
            <a:ext cx="1543050" cy="649111"/>
          </a:xfrm>
          <a:prstGeom prst="rect">
            <a:avLst/>
          </a:prstGeom>
        </p:spPr>
        <p:txBody>
          <a:bodyPr vert="horz" lIns="91440" tIns="45720" rIns="91440" bIns="45720" rtlCol="0" anchor="ctr"/>
          <a:lstStyle>
            <a:lvl1pPr algn="r">
              <a:defRPr sz="900">
                <a:solidFill>
                  <a:schemeClr val="tx1">
                    <a:tint val="75000"/>
                  </a:schemeClr>
                </a:solidFill>
              </a:defRPr>
            </a:lvl1pPr>
          </a:lstStyle>
          <a:p>
            <a:fld id="{25E9A957-5C75-4D4C-85D7-F5CE3274B0A5}" type="slidenum">
              <a:rPr lang="en-IN" smtClean="0"/>
              <a:t>‹#›</a:t>
            </a:fld>
            <a:endParaRPr lang="en-IN"/>
          </a:p>
        </p:txBody>
      </p:sp>
    </p:spTree>
    <p:extLst>
      <p:ext uri="{BB962C8B-B14F-4D97-AF65-F5344CB8AC3E}">
        <p14:creationId xmlns:p14="http://schemas.microsoft.com/office/powerpoint/2010/main" val="38071854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3583594676"/>
              </p:ext>
            </p:extLst>
          </p:nvPr>
        </p:nvGraphicFramePr>
        <p:xfrm>
          <a:off x="106680" y="685801"/>
          <a:ext cx="6555375" cy="3506695"/>
        </p:xfrm>
        <a:graphic>
          <a:graphicData uri="http://schemas.openxmlformats.org/drawingml/2006/table">
            <a:tbl>
              <a:tblPr firstRow="1" bandRow="1">
                <a:tableStyleId>{5C22544A-7EE6-4342-B048-85BDC9FD1C3A}</a:tableStyleId>
              </a:tblPr>
              <a:tblGrid>
                <a:gridCol w="655320">
                  <a:extLst>
                    <a:ext uri="{9D8B030D-6E8A-4147-A177-3AD203B41FA5}">
                      <a16:colId xmlns:a16="http://schemas.microsoft.com/office/drawing/2014/main" xmlns="" val="20000"/>
                    </a:ext>
                  </a:extLst>
                </a:gridCol>
                <a:gridCol w="1584960">
                  <a:extLst>
                    <a:ext uri="{9D8B030D-6E8A-4147-A177-3AD203B41FA5}">
                      <a16:colId xmlns:a16="http://schemas.microsoft.com/office/drawing/2014/main" xmlns="" val="20001"/>
                    </a:ext>
                  </a:extLst>
                </a:gridCol>
                <a:gridCol w="1920240">
                  <a:extLst>
                    <a:ext uri="{9D8B030D-6E8A-4147-A177-3AD203B41FA5}">
                      <a16:colId xmlns:a16="http://schemas.microsoft.com/office/drawing/2014/main" xmlns="" val="20002"/>
                    </a:ext>
                  </a:extLst>
                </a:gridCol>
                <a:gridCol w="2394855">
                  <a:extLst>
                    <a:ext uri="{9D8B030D-6E8A-4147-A177-3AD203B41FA5}">
                      <a16:colId xmlns:a16="http://schemas.microsoft.com/office/drawing/2014/main" xmlns="" val="20003"/>
                    </a:ext>
                  </a:extLst>
                </a:gridCol>
              </a:tblGrid>
              <a:tr h="556374">
                <a:tc>
                  <a:txBody>
                    <a:bodyPr/>
                    <a:lstStyle/>
                    <a:p>
                      <a:r>
                        <a:rPr lang="en-US" sz="1100" b="1" dirty="0">
                          <a:solidFill>
                            <a:schemeClr val="bg1"/>
                          </a:solidFill>
                        </a:rPr>
                        <a:t>Error </a:t>
                      </a:r>
                    </a:p>
                    <a:p>
                      <a:r>
                        <a:rPr lang="en-US" sz="1100" b="1" dirty="0">
                          <a:solidFill>
                            <a:schemeClr val="bg1"/>
                          </a:solidFill>
                        </a:rPr>
                        <a:t>Type</a:t>
                      </a:r>
                      <a:endParaRPr lang="en-GB" sz="1100" b="1" dirty="0">
                        <a:solidFill>
                          <a:schemeClr val="bg1"/>
                        </a:solidFill>
                        <a:latin typeface="+mn-lt"/>
                        <a:cs typeface="Times New Roman" panose="02020603050405020304" pitchFamily="18" charset="0"/>
                      </a:endParaRPr>
                    </a:p>
                  </a:txBody>
                  <a:tcPr marT="45721" marB="45721"/>
                </a:tc>
                <a:tc>
                  <a:txBody>
                    <a:bodyPr/>
                    <a:lstStyle/>
                    <a:p>
                      <a:r>
                        <a:rPr lang="en-US" sz="1100" b="1" dirty="0">
                          <a:solidFill>
                            <a:schemeClr val="bg1"/>
                          </a:solidFill>
                        </a:rPr>
                        <a:t>Source Language: Sanskrit</a:t>
                      </a:r>
                    </a:p>
                    <a:p>
                      <a:endParaRPr lang="en-GB" sz="1100" b="1" dirty="0">
                        <a:solidFill>
                          <a:schemeClr val="bg1"/>
                        </a:solidFill>
                        <a:latin typeface="+mn-lt"/>
                        <a:cs typeface="Times New Roman" panose="02020603050405020304" pitchFamily="18" charset="0"/>
                      </a:endParaRPr>
                    </a:p>
                  </a:txBody>
                  <a:tcPr marT="45721" marB="45721"/>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b="1" dirty="0">
                          <a:solidFill>
                            <a:schemeClr val="bg1"/>
                          </a:solidFill>
                        </a:rPr>
                        <a:t>LLM Hallucination</a:t>
                      </a:r>
                    </a:p>
                    <a:p>
                      <a:r>
                        <a:rPr lang="en-US" sz="1100" b="1" dirty="0">
                          <a:solidFill>
                            <a:schemeClr val="bg1"/>
                          </a:solidFill>
                        </a:rPr>
                        <a:t>Target Language:   Hindi</a:t>
                      </a:r>
                    </a:p>
                  </a:txBody>
                  <a:tcPr marT="45721" marB="45721"/>
                </a:tc>
                <a:tc>
                  <a:txBody>
                    <a:bodyPr/>
                    <a:lstStyle/>
                    <a:p>
                      <a:r>
                        <a:rPr lang="en-US" sz="1100" b="1" dirty="0">
                          <a:solidFill>
                            <a:schemeClr val="bg1"/>
                          </a:solidFill>
                        </a:rPr>
                        <a:t>Explanation</a:t>
                      </a:r>
                      <a:endParaRPr lang="en-GB" sz="1100" b="1" dirty="0">
                        <a:solidFill>
                          <a:schemeClr val="bg1"/>
                        </a:solidFill>
                        <a:latin typeface="+mn-lt"/>
                        <a:cs typeface="Times New Roman" panose="02020603050405020304" pitchFamily="18" charset="0"/>
                      </a:endParaRPr>
                    </a:p>
                  </a:txBody>
                  <a:tcPr marT="45721" marB="45721"/>
                </a:tc>
                <a:extLst>
                  <a:ext uri="{0D108BD9-81ED-4DB2-BD59-A6C34878D82A}">
                    <a16:rowId xmlns:a16="http://schemas.microsoft.com/office/drawing/2014/main" xmlns="" val="10000"/>
                  </a:ext>
                </a:extLst>
              </a:tr>
              <a:tr h="313853">
                <a:tc>
                  <a:txBody>
                    <a:bodyPr/>
                    <a:lstStyle/>
                    <a:p>
                      <a:r>
                        <a:rPr lang="en-US" sz="700" b="1" dirty="0"/>
                        <a:t>Location</a:t>
                      </a:r>
                      <a:endParaRPr lang="en-GB" sz="700" b="1" dirty="0">
                        <a:latin typeface="+mn-lt"/>
                        <a:cs typeface="Times New Roman" panose="02020603050405020304" pitchFamily="18" charset="0"/>
                      </a:endParaRPr>
                    </a:p>
                  </a:txBody>
                  <a:tcPr marT="45721" marB="45721"/>
                </a:tc>
                <a:tc>
                  <a:txBody>
                    <a:bodyPr/>
                    <a:lstStyle/>
                    <a:p>
                      <a:r>
                        <a:rPr lang="hi-IN" sz="700" b="0" kern="1200" dirty="0">
                          <a:solidFill>
                            <a:schemeClr val="dk1"/>
                          </a:solidFill>
                          <a:effectLst/>
                        </a:rPr>
                        <a:t>ह.. ह.. इदं न </a:t>
                      </a:r>
                      <a:r>
                        <a:rPr lang="hi-IN" sz="700" b="0" kern="1200" dirty="0">
                          <a:solidFill>
                            <a:srgbClr val="FF0000"/>
                          </a:solidFill>
                          <a:effectLst/>
                        </a:rPr>
                        <a:t>गुर्गांव् नगरम्</a:t>
                      </a:r>
                      <a:r>
                        <a:rPr lang="hi-IN" sz="700" b="0" kern="1200" dirty="0">
                          <a:solidFill>
                            <a:schemeClr val="dk1"/>
                          </a:solidFill>
                          <a:effectLst/>
                        </a:rPr>
                        <a:t>।</a:t>
                      </a:r>
                      <a:endParaRPr lang="hi-IN" sz="700" b="0" kern="1200" dirty="0">
                        <a:solidFill>
                          <a:schemeClr val="dk1"/>
                        </a:solidFill>
                        <a:effectLst/>
                        <a:latin typeface="+mn-lt"/>
                        <a:ea typeface="+mn-ea"/>
                        <a:cs typeface="+mn-cs"/>
                      </a:endParaRPr>
                    </a:p>
                  </a:txBody>
                  <a:tcPr marT="45721" marB="45721"/>
                </a:tc>
                <a:tc>
                  <a:txBody>
                    <a:bodyPr/>
                    <a:lstStyle/>
                    <a:p>
                      <a:r>
                        <a:rPr lang="hi-IN" sz="700" b="0" kern="1200" dirty="0">
                          <a:solidFill>
                            <a:schemeClr val="dk1"/>
                          </a:solidFill>
                          <a:effectLst/>
                        </a:rPr>
                        <a:t>ह... ह... यह </a:t>
                      </a:r>
                      <a:r>
                        <a:rPr lang="hi-IN" sz="700" b="0" kern="1200" dirty="0">
                          <a:solidFill>
                            <a:srgbClr val="FF0000"/>
                          </a:solidFill>
                          <a:effectLst/>
                        </a:rPr>
                        <a:t>गूर्जां नागर </a:t>
                      </a:r>
                      <a:r>
                        <a:rPr lang="hi-IN" sz="700" b="0" kern="1200" dirty="0">
                          <a:solidFill>
                            <a:schemeClr val="dk1"/>
                          </a:solidFill>
                          <a:effectLst/>
                        </a:rPr>
                        <a:t>में अन्तरित नहीं है।</a:t>
                      </a:r>
                      <a:endParaRPr lang="hi-IN" sz="700" b="0" kern="1200" dirty="0">
                        <a:solidFill>
                          <a:schemeClr val="dk1"/>
                        </a:solidFill>
                        <a:effectLst/>
                        <a:latin typeface="+mn-lt"/>
                        <a:ea typeface="+mn-ea"/>
                        <a:cs typeface="+mn-cs"/>
                      </a:endParaRPr>
                    </a:p>
                  </a:txBody>
                  <a:tcPr marT="45721" marB="45721"/>
                </a:tc>
                <a:tc>
                  <a:txBody>
                    <a:bodyPr/>
                    <a:lstStyle/>
                    <a:p>
                      <a:r>
                        <a:rPr lang="en-US" sz="800" b="0" dirty="0" smtClean="0"/>
                        <a:t>The model hallucinates the location entity by altering Gurgaon to </a:t>
                      </a:r>
                      <a:r>
                        <a:rPr lang="en-US" sz="800" b="0" dirty="0" err="1" smtClean="0"/>
                        <a:t>Gurjan</a:t>
                      </a:r>
                      <a:r>
                        <a:rPr lang="en-US" sz="800" b="0" dirty="0" smtClean="0"/>
                        <a:t> Nagar.</a:t>
                      </a:r>
                      <a:endParaRPr lang="en-US" sz="800" b="0" dirty="0">
                        <a:latin typeface="+mn-lt"/>
                        <a:cs typeface="Times New Roman" panose="02020603050405020304" pitchFamily="18" charset="0"/>
                      </a:endParaRPr>
                    </a:p>
                  </a:txBody>
                  <a:tcPr marT="45721" marB="45721"/>
                </a:tc>
                <a:extLst>
                  <a:ext uri="{0D108BD9-81ED-4DB2-BD59-A6C34878D82A}">
                    <a16:rowId xmlns:a16="http://schemas.microsoft.com/office/drawing/2014/main" xmlns="" val="10001"/>
                  </a:ext>
                </a:extLst>
              </a:tr>
              <a:tr h="427980">
                <a:tc>
                  <a:txBody>
                    <a:bodyPr/>
                    <a:lstStyle/>
                    <a:p>
                      <a:r>
                        <a:rPr lang="en-GB" sz="700" b="1" dirty="0"/>
                        <a:t>Negation</a:t>
                      </a:r>
                      <a:endParaRPr lang="en-GB" sz="700" b="1" dirty="0">
                        <a:latin typeface="+mn-lt"/>
                        <a:cs typeface="Times New Roman" panose="02020603050405020304" pitchFamily="18" charset="0"/>
                      </a:endParaRPr>
                    </a:p>
                  </a:txBody>
                  <a:tcPr marT="45721" marB="45721"/>
                </a:tc>
                <a:tc>
                  <a:txBody>
                    <a:bodyPr/>
                    <a:lstStyle/>
                    <a:p>
                      <a:r>
                        <a:rPr lang="hi-IN" sz="700" b="0" kern="1200" dirty="0">
                          <a:solidFill>
                            <a:schemeClr val="dk1"/>
                          </a:solidFill>
                          <a:effectLst/>
                        </a:rPr>
                        <a:t>एते </a:t>
                      </a:r>
                      <a:r>
                        <a:rPr lang="hi-IN" sz="700" b="0" kern="1200" dirty="0">
                          <a:solidFill>
                            <a:srgbClr val="FF0000"/>
                          </a:solidFill>
                          <a:effectLst/>
                        </a:rPr>
                        <a:t>न केवलं </a:t>
                      </a:r>
                      <a:r>
                        <a:rPr lang="hi-IN" sz="700" b="0" kern="1200" dirty="0">
                          <a:solidFill>
                            <a:schemeClr val="dk1"/>
                          </a:solidFill>
                          <a:effectLst/>
                        </a:rPr>
                        <a:t>दुरासक्तिं </a:t>
                      </a:r>
                      <a:r>
                        <a:rPr lang="hi-IN" sz="700" b="0" kern="1200" dirty="0">
                          <a:solidFill>
                            <a:schemeClr val="tx1"/>
                          </a:solidFill>
                          <a:effectLst/>
                        </a:rPr>
                        <a:t>जनयन्ति परं गोर्दस्योपरि </a:t>
                      </a:r>
                      <a:r>
                        <a:rPr lang="hi-IN" sz="700" b="0" kern="1200" dirty="0">
                          <a:solidFill>
                            <a:schemeClr val="dk1"/>
                          </a:solidFill>
                          <a:effectLst/>
                        </a:rPr>
                        <a:t>दुष्परिणामन् जनयन्ति च।</a:t>
                      </a:r>
                      <a:endParaRPr lang="hi-IN" sz="700" b="0" kern="1200" dirty="0">
                        <a:solidFill>
                          <a:schemeClr val="dk1"/>
                        </a:solidFill>
                        <a:effectLst/>
                        <a:latin typeface="+mn-lt"/>
                        <a:ea typeface="+mn-ea"/>
                        <a:cs typeface="+mn-cs"/>
                      </a:endParaRPr>
                    </a:p>
                  </a:txBody>
                  <a:tcPr marT="45721" marB="45721"/>
                </a:tc>
                <a:tc>
                  <a:txBody>
                    <a:bodyPr/>
                    <a:lstStyle/>
                    <a:p>
                      <a:r>
                        <a:rPr lang="hi-IN" sz="700" b="0" kern="1200" dirty="0">
                          <a:solidFill>
                            <a:schemeClr val="dk1"/>
                          </a:solidFill>
                          <a:effectLst/>
                        </a:rPr>
                        <a:t>इनमें से </a:t>
                      </a:r>
                      <a:r>
                        <a:rPr lang="hi-IN" sz="700" b="0" kern="1200" dirty="0">
                          <a:solidFill>
                            <a:srgbClr val="FF0000"/>
                          </a:solidFill>
                          <a:effectLst/>
                        </a:rPr>
                        <a:t>केबल अच्छी नहीं है</a:t>
                      </a:r>
                      <a:r>
                        <a:rPr lang="hi-IN" sz="700" b="0" kern="1200" dirty="0">
                          <a:solidFill>
                            <a:schemeClr val="dk1"/>
                          </a:solidFill>
                          <a:effectLst/>
                        </a:rPr>
                        <a:t>, और उनका </a:t>
                      </a:r>
                      <a:r>
                        <a:rPr lang="hi-IN" sz="700" b="0" kern="1200" dirty="0">
                          <a:solidFill>
                            <a:schemeClr val="tx1"/>
                          </a:solidFill>
                          <a:effectLst/>
                        </a:rPr>
                        <a:t>ऊपर गौर्डस्थ </a:t>
                      </a:r>
                      <a:r>
                        <a:rPr lang="hi-IN" sz="700" b="0" kern="1200" dirty="0">
                          <a:solidFill>
                            <a:schemeClr val="dk1"/>
                          </a:solidFill>
                          <a:effectLst/>
                        </a:rPr>
                        <a:t>के ऊर्ध्व में भी खराब परिफल उत्पन्न करते हूँ।</a:t>
                      </a:r>
                      <a:endParaRPr lang="hi-IN" sz="700" b="0" kern="1200" dirty="0">
                        <a:solidFill>
                          <a:schemeClr val="dk1"/>
                        </a:solidFill>
                        <a:effectLst/>
                        <a:latin typeface="+mn-lt"/>
                        <a:ea typeface="+mn-ea"/>
                        <a:cs typeface="+mn-cs"/>
                      </a:endParaRPr>
                    </a:p>
                  </a:txBody>
                  <a:tcPr marT="45721" marB="45721"/>
                </a:tc>
                <a:tc>
                  <a:txBody>
                    <a:bodyPr/>
                    <a:lstStyle/>
                    <a:p>
                      <a:r>
                        <a:rPr lang="en-US" sz="800" b="0" dirty="0" smtClean="0"/>
                        <a:t>The model incorrectly translates the negative condition, changing not only into is only not good.</a:t>
                      </a:r>
                      <a:endParaRPr lang="en-IN" sz="800" b="0" dirty="0">
                        <a:latin typeface="+mn-lt"/>
                        <a:cs typeface="Times New Roman" panose="02020603050405020304" pitchFamily="18" charset="0"/>
                      </a:endParaRPr>
                    </a:p>
                  </a:txBody>
                  <a:tcPr marT="45721" marB="45721"/>
                </a:tc>
                <a:extLst>
                  <a:ext uri="{0D108BD9-81ED-4DB2-BD59-A6C34878D82A}">
                    <a16:rowId xmlns:a16="http://schemas.microsoft.com/office/drawing/2014/main" xmlns="" val="10002"/>
                  </a:ext>
                </a:extLst>
              </a:tr>
              <a:tr h="385182">
                <a:tc>
                  <a:txBody>
                    <a:bodyPr/>
                    <a:lstStyle/>
                    <a:p>
                      <a:r>
                        <a:rPr lang="en-GB" sz="700" b="1" dirty="0"/>
                        <a:t>Number</a:t>
                      </a:r>
                      <a:endParaRPr lang="en-GB" sz="700" b="1" dirty="0">
                        <a:latin typeface="+mn-lt"/>
                        <a:cs typeface="Times New Roman" panose="02020603050405020304" pitchFamily="18" charset="0"/>
                      </a:endParaRPr>
                    </a:p>
                  </a:txBody>
                  <a:tcPr marT="45721" marB="45721"/>
                </a:tc>
                <a:tc>
                  <a:txBody>
                    <a:bodyPr/>
                    <a:lstStyle/>
                    <a:p>
                      <a:r>
                        <a:rPr lang="hi-IN" sz="700" b="0" kern="1200" dirty="0">
                          <a:solidFill>
                            <a:srgbClr val="FF0000"/>
                          </a:solidFill>
                          <a:effectLst/>
                        </a:rPr>
                        <a:t>2017 </a:t>
                      </a:r>
                      <a:r>
                        <a:rPr lang="hi-IN" sz="700" b="0" kern="1200" dirty="0">
                          <a:solidFill>
                            <a:schemeClr val="dk1"/>
                          </a:solidFill>
                          <a:effectLst/>
                        </a:rPr>
                        <a:t>वर्षस्य उत्तरार्धे सिमनोफमहोदयः दूरदर्शनस्य क्युव्हीसी इति विपणिवाहिन्यां प्रकटीभूतः।</a:t>
                      </a:r>
                      <a:endParaRPr lang="hi-IN" sz="700" b="0" kern="1200" dirty="0">
                        <a:solidFill>
                          <a:schemeClr val="dk1"/>
                        </a:solidFill>
                        <a:effectLst/>
                        <a:latin typeface="+mn-lt"/>
                        <a:ea typeface="+mn-ea"/>
                        <a:cs typeface="+mn-cs"/>
                      </a:endParaRPr>
                    </a:p>
                  </a:txBody>
                  <a:tcPr marT="45721" marB="45721"/>
                </a:tc>
                <a:tc>
                  <a:txBody>
                    <a:bodyPr/>
                    <a:lstStyle/>
                    <a:p>
                      <a:r>
                        <a:rPr lang="hi-IN" sz="700" b="0" kern="1200" dirty="0">
                          <a:solidFill>
                            <a:srgbClr val="FF0000"/>
                          </a:solidFill>
                          <a:effectLst/>
                        </a:rPr>
                        <a:t>2007</a:t>
                      </a:r>
                      <a:r>
                        <a:rPr lang="hi-IN" sz="700" b="0" kern="1200" dirty="0">
                          <a:solidFill>
                            <a:schemeClr val="dk1"/>
                          </a:solidFill>
                          <a:effectLst/>
                        </a:rPr>
                        <a:t> के अंत में सिंमानोफ महोत्सव दुर्गम चैनल के क्वीवीसि बिक्री के माध्यम से प्रसारित हुए।</a:t>
                      </a:r>
                      <a:endParaRPr lang="hi-IN" sz="700" b="0" kern="1200" dirty="0">
                        <a:solidFill>
                          <a:schemeClr val="dk1"/>
                        </a:solidFill>
                        <a:effectLst/>
                        <a:latin typeface="+mn-lt"/>
                        <a:ea typeface="+mn-ea"/>
                        <a:cs typeface="+mn-cs"/>
                      </a:endParaRPr>
                    </a:p>
                  </a:txBody>
                  <a:tcPr marT="45721" marB="45721"/>
                </a:tc>
                <a:tc>
                  <a:txBody>
                    <a:bodyPr/>
                    <a:lstStyle/>
                    <a:p>
                      <a:r>
                        <a:rPr lang="en-US" sz="800" b="0" dirty="0" smtClean="0"/>
                        <a:t>The model hallucinates the numerical value by changing the year 2017 to 2007. </a:t>
                      </a:r>
                      <a:endParaRPr lang="en-US" sz="800" b="0" dirty="0">
                        <a:latin typeface="+mn-lt"/>
                        <a:cs typeface="Times New Roman" panose="02020603050405020304" pitchFamily="18" charset="0"/>
                      </a:endParaRPr>
                    </a:p>
                  </a:txBody>
                  <a:tcPr marT="45721" marB="45721"/>
                </a:tc>
                <a:extLst>
                  <a:ext uri="{0D108BD9-81ED-4DB2-BD59-A6C34878D82A}">
                    <a16:rowId xmlns:a16="http://schemas.microsoft.com/office/drawing/2014/main" xmlns="" val="10004"/>
                  </a:ext>
                </a:extLst>
              </a:tr>
              <a:tr h="427980">
                <a:tc>
                  <a:txBody>
                    <a:bodyPr/>
                    <a:lstStyle/>
                    <a:p>
                      <a:r>
                        <a:rPr lang="en-GB" sz="700" b="1" dirty="0"/>
                        <a:t>Person</a:t>
                      </a:r>
                      <a:endParaRPr lang="en-GB" sz="700" b="1" dirty="0">
                        <a:latin typeface="+mn-lt"/>
                        <a:cs typeface="Times New Roman" panose="02020603050405020304" pitchFamily="18" charset="0"/>
                      </a:endParaRPr>
                    </a:p>
                  </a:txBody>
                  <a:tcPr marT="45721" marB="45721"/>
                </a:tc>
                <a:tc>
                  <a:txBody>
                    <a:bodyPr/>
                    <a:lstStyle/>
                    <a:p>
                      <a:r>
                        <a:rPr lang="hi-IN" sz="700" b="0" kern="1200" dirty="0">
                          <a:solidFill>
                            <a:schemeClr val="dk1"/>
                          </a:solidFill>
                          <a:effectLst/>
                        </a:rPr>
                        <a:t>तस्मात्‌ </a:t>
                      </a:r>
                      <a:r>
                        <a:rPr lang="hi-IN" sz="700" b="0" kern="1200" dirty="0">
                          <a:solidFill>
                            <a:srgbClr val="FF0000"/>
                          </a:solidFill>
                          <a:effectLst/>
                        </a:rPr>
                        <a:t>विश्वकर्मा</a:t>
                      </a:r>
                      <a:r>
                        <a:rPr lang="hi-IN" sz="700" b="0" kern="1200" dirty="0">
                          <a:solidFill>
                            <a:schemeClr val="dk1"/>
                          </a:solidFill>
                          <a:effectLst/>
                        </a:rPr>
                        <a:t> </a:t>
                      </a:r>
                      <a:r>
                        <a:rPr lang="hi-IN" sz="700" b="0" kern="1200" dirty="0">
                          <a:solidFill>
                            <a:schemeClr val="tx1"/>
                          </a:solidFill>
                          <a:effectLst/>
                        </a:rPr>
                        <a:t>गर्जनं कुर्वन्तं वज्रं निर्मितवान्‌।</a:t>
                      </a:r>
                      <a:endParaRPr lang="hi-IN" sz="700" b="0" kern="1200" dirty="0">
                        <a:solidFill>
                          <a:schemeClr val="tx1"/>
                        </a:solidFill>
                        <a:effectLst/>
                        <a:latin typeface="+mn-lt"/>
                        <a:ea typeface="+mn-ea"/>
                        <a:cs typeface="+mn-cs"/>
                      </a:endParaRPr>
                    </a:p>
                  </a:txBody>
                  <a:tcPr marT="45721" marB="45721"/>
                </a:tc>
                <a:tc>
                  <a:txBody>
                    <a:bodyPr/>
                    <a:lstStyle/>
                    <a:p>
                      <a:r>
                        <a:rPr lang="hi-IN" sz="700" b="0" kern="1200" dirty="0">
                          <a:solidFill>
                            <a:schemeClr val="dk1"/>
                          </a:solidFill>
                          <a:effectLst/>
                        </a:rPr>
                        <a:t>इसलिए </a:t>
                      </a:r>
                      <a:r>
                        <a:rPr lang="hi-IN" sz="700" b="0" kern="1200" dirty="0">
                          <a:solidFill>
                            <a:srgbClr val="FF0000"/>
                          </a:solidFill>
                          <a:effectLst/>
                        </a:rPr>
                        <a:t>वैश्यकरमा </a:t>
                      </a:r>
                      <a:r>
                        <a:rPr lang="hi-IN" sz="700" b="0" kern="1200" dirty="0">
                          <a:solidFill>
                            <a:schemeClr val="tx1"/>
                          </a:solidFill>
                          <a:effectLst/>
                        </a:rPr>
                        <a:t>घोषणा करते हुए वच्र की रचना किल चला।</a:t>
                      </a:r>
                      <a:endParaRPr lang="hi-IN" sz="700" b="0" kern="1200" dirty="0">
                        <a:solidFill>
                          <a:schemeClr val="tx1"/>
                        </a:solidFill>
                        <a:effectLst/>
                        <a:latin typeface="+mn-lt"/>
                        <a:ea typeface="+mn-ea"/>
                        <a:cs typeface="+mn-cs"/>
                      </a:endParaRPr>
                    </a:p>
                  </a:txBody>
                  <a:tcPr marT="45721" marB="45721"/>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dirty="0" smtClean="0"/>
                        <a:t>The model hallucinates a named entity by incorrectly spelling the proper noun </a:t>
                      </a:r>
                      <a:r>
                        <a:rPr lang="en-US" sz="800" b="0" dirty="0" err="1" smtClean="0"/>
                        <a:t>Vishwakarma</a:t>
                      </a:r>
                      <a:r>
                        <a:rPr lang="en-US" sz="800" b="0" dirty="0" smtClean="0"/>
                        <a:t>.</a:t>
                      </a:r>
                      <a:endParaRPr lang="en-US" sz="800" b="0" dirty="0">
                        <a:latin typeface="+mn-lt"/>
                        <a:cs typeface="Times New Roman" panose="02020603050405020304" pitchFamily="18" charset="0"/>
                      </a:endParaRPr>
                    </a:p>
                  </a:txBody>
                  <a:tcPr marT="45721" marB="45721"/>
                </a:tc>
                <a:extLst>
                  <a:ext uri="{0D108BD9-81ED-4DB2-BD59-A6C34878D82A}">
                    <a16:rowId xmlns:a16="http://schemas.microsoft.com/office/drawing/2014/main" xmlns="" val="10006"/>
                  </a:ext>
                </a:extLst>
              </a:tr>
              <a:tr h="684767">
                <a:tc>
                  <a:txBody>
                    <a:bodyPr/>
                    <a:lstStyle/>
                    <a:p>
                      <a:r>
                        <a:rPr lang="en-GB" sz="700" b="1" dirty="0"/>
                        <a:t>Script</a:t>
                      </a:r>
                      <a:endParaRPr lang="en-GB" sz="700" b="1" dirty="0">
                        <a:latin typeface="+mn-lt"/>
                        <a:cs typeface="Times New Roman" panose="02020603050405020304" pitchFamily="18" charset="0"/>
                      </a:endParaRPr>
                    </a:p>
                  </a:txBody>
                  <a:tcPr marT="45721" marB="45721"/>
                </a:tc>
                <a:tc>
                  <a:txBody>
                    <a:bodyPr/>
                    <a:lstStyle/>
                    <a:p>
                      <a:r>
                        <a:rPr lang="hi-IN" sz="700" b="0" kern="1200" dirty="0">
                          <a:solidFill>
                            <a:schemeClr val="dk1"/>
                          </a:solidFill>
                          <a:effectLst/>
                        </a:rPr>
                        <a:t>यद्यपि प्लवपश्चात् जलस्तरः केचन फीटमात्रं वर्धिष्यति तर्हि अधिकारिणः आशासन्ते यत् नष्टानां मृदादण्डानां पुनर्स्थापनायै इदम् अलं भवेत्।</a:t>
                      </a:r>
                    </a:p>
                    <a:p>
                      <a:endParaRPr lang="hi-IN" sz="700" b="0" kern="1200" dirty="0">
                        <a:solidFill>
                          <a:schemeClr val="dk1"/>
                        </a:solidFill>
                        <a:effectLst/>
                        <a:latin typeface="+mn-lt"/>
                        <a:ea typeface="+mn-ea"/>
                        <a:cs typeface="+mn-cs"/>
                      </a:endParaRPr>
                    </a:p>
                  </a:txBody>
                  <a:tcPr marT="45721" marB="45721"/>
                </a:tc>
                <a:tc>
                  <a:txBody>
                    <a:bodyPr/>
                    <a:lstStyle/>
                    <a:p>
                      <a:r>
                        <a:rPr lang="hi-IN" sz="700" b="0" kern="1200" dirty="0">
                          <a:solidFill>
                            <a:schemeClr val="dk1"/>
                          </a:solidFill>
                          <a:effectLst/>
                        </a:rPr>
                        <a:t>अगर ज</a:t>
                      </a:r>
                      <a:r>
                        <a:rPr lang="as-IN" sz="700" b="0" kern="1200" dirty="0">
                          <a:solidFill>
                            <a:srgbClr val="FF0000"/>
                          </a:solidFill>
                          <a:effectLst/>
                        </a:rPr>
                        <a:t>ল</a:t>
                      </a:r>
                      <a:r>
                        <a:rPr lang="as-IN" sz="700" b="0" kern="1200" dirty="0">
                          <a:solidFill>
                            <a:schemeClr val="dk1"/>
                          </a:solidFill>
                          <a:effectLst/>
                        </a:rPr>
                        <a:t> </a:t>
                      </a:r>
                      <a:r>
                        <a:rPr lang="hi-IN" sz="700" b="0" kern="1200" dirty="0">
                          <a:solidFill>
                            <a:schemeClr val="dk1"/>
                          </a:solidFill>
                          <a:effectLst/>
                        </a:rPr>
                        <a:t>स्त</a:t>
                      </a:r>
                      <a:r>
                        <a:rPr lang="as-IN" sz="700" b="0" kern="1200" dirty="0">
                          <a:solidFill>
                            <a:srgbClr val="FF0000"/>
                          </a:solidFill>
                          <a:effectLst/>
                        </a:rPr>
                        <a:t>র</a:t>
                      </a:r>
                      <a:r>
                        <a:rPr lang="as-IN" sz="700" b="0" kern="1200" dirty="0">
                          <a:solidFill>
                            <a:schemeClr val="dk1"/>
                          </a:solidFill>
                          <a:effectLst/>
                        </a:rPr>
                        <a:t> </a:t>
                      </a:r>
                      <a:r>
                        <a:rPr lang="hi-IN" sz="700" b="0" kern="1200" dirty="0">
                          <a:solidFill>
                            <a:schemeClr val="dk1"/>
                          </a:solidFill>
                          <a:effectLst/>
                        </a:rPr>
                        <a:t>को लेख बाद एक फिट के लंबाई का वृध्दि हो जाए, तो उनके अभिमानी उम्मीद करते हैं कि नाशित और निर्माण के पुराने वस्था के स्थल पर इस अनुचितता को पुष्तक बनाए जा सकता हूँ।</a:t>
                      </a:r>
                    </a:p>
                    <a:p>
                      <a:endParaRPr lang="hi-IN" sz="700" b="0" kern="1200" dirty="0">
                        <a:solidFill>
                          <a:schemeClr val="dk1"/>
                        </a:solidFill>
                        <a:effectLst/>
                        <a:latin typeface="+mn-lt"/>
                        <a:ea typeface="+mn-ea"/>
                        <a:cs typeface="+mn-cs"/>
                      </a:endParaRPr>
                    </a:p>
                  </a:txBody>
                  <a:tcPr marT="45721" marB="45721"/>
                </a:tc>
                <a:tc>
                  <a:txBody>
                    <a:bodyPr/>
                    <a:lstStyle/>
                    <a:p>
                      <a:r>
                        <a:rPr lang="en-US" sz="800" b="0" dirty="0" smtClean="0"/>
                        <a:t>The model hallucinates script consistency by inserting Bengali characters standard Devanagari text.</a:t>
                      </a:r>
                      <a:endParaRPr lang="en-US" sz="800" b="0" dirty="0">
                        <a:latin typeface="+mn-lt"/>
                        <a:cs typeface="Times New Roman" panose="02020603050405020304" pitchFamily="18" charset="0"/>
                      </a:endParaRPr>
                    </a:p>
                  </a:txBody>
                  <a:tcPr marT="45721" marB="45721"/>
                </a:tc>
                <a:extLst>
                  <a:ext uri="{0D108BD9-81ED-4DB2-BD59-A6C34878D82A}">
                    <a16:rowId xmlns:a16="http://schemas.microsoft.com/office/drawing/2014/main" xmlns="" val="10005"/>
                  </a:ext>
                </a:extLst>
              </a:tr>
              <a:tr h="617623">
                <a:tc>
                  <a:txBody>
                    <a:bodyPr/>
                    <a:lstStyle/>
                    <a:p>
                      <a:r>
                        <a:rPr lang="en-GB" sz="700" b="1" dirty="0"/>
                        <a:t>Tense</a:t>
                      </a:r>
                      <a:endParaRPr lang="en-GB" sz="700" b="1" dirty="0">
                        <a:latin typeface="+mn-lt"/>
                        <a:cs typeface="Times New Roman" panose="02020603050405020304" pitchFamily="18" charset="0"/>
                      </a:endParaRPr>
                    </a:p>
                  </a:txBody>
                  <a:tcPr marT="45721" marB="45721"/>
                </a:tc>
                <a:tc>
                  <a:txBody>
                    <a:bodyPr/>
                    <a:lstStyle/>
                    <a:p>
                      <a:r>
                        <a:rPr lang="hi-IN" sz="700" b="0" kern="1200" dirty="0">
                          <a:solidFill>
                            <a:schemeClr val="dk1"/>
                          </a:solidFill>
                          <a:effectLst/>
                        </a:rPr>
                        <a:t>एतेषां निष्कर्षाणां १ प्रकारमधुमेहग्रस्तैः सह कमपि सम्बन्धं नास्ति इत्यस्य आलोकनानन्तरं अन्ये निपुणाः इव सः अपि </a:t>
                      </a:r>
                      <a:r>
                        <a:rPr lang="hi-IN" sz="700" b="0" kern="1200" dirty="0">
                          <a:solidFill>
                            <a:srgbClr val="FF0000"/>
                          </a:solidFill>
                          <a:effectLst/>
                        </a:rPr>
                        <a:t>शङ्क्यते</a:t>
                      </a:r>
                      <a:r>
                        <a:rPr lang="hi-IN" sz="700" b="0" kern="1200" dirty="0">
                          <a:solidFill>
                            <a:schemeClr val="dk1"/>
                          </a:solidFill>
                          <a:effectLst/>
                        </a:rPr>
                        <a:t> यत् मधुमेहं उपशामयितुं शक्यते वा |</a:t>
                      </a:r>
                      <a:endParaRPr lang="hi-IN" sz="700" b="0" kern="1200" dirty="0">
                        <a:solidFill>
                          <a:schemeClr val="dk1"/>
                        </a:solidFill>
                        <a:effectLst/>
                        <a:latin typeface="+mn-lt"/>
                        <a:ea typeface="+mn-ea"/>
                        <a:cs typeface="+mn-cs"/>
                      </a:endParaRPr>
                    </a:p>
                  </a:txBody>
                  <a:tcPr marT="45721" marB="45721"/>
                </a:tc>
                <a:tc>
                  <a:txBody>
                    <a:bodyPr/>
                    <a:lstStyle/>
                    <a:p>
                      <a:r>
                        <a:rPr lang="hi-IN" sz="700" b="0" kern="1200" dirty="0">
                          <a:solidFill>
                            <a:schemeClr val="dk1"/>
                          </a:solidFill>
                          <a:effectLst/>
                        </a:rPr>
                        <a:t>इन निष्कर्षों में प्रकार‑१ मधुमेह के साथ किसी भी प्रकार का संबंध नहीं पाया गया, और इसे उजागर करने के बाद अन्य निपुणों ने भी यह </a:t>
                      </a:r>
                      <a:r>
                        <a:rPr lang="hi-IN" sz="700" b="0" kern="1200" dirty="0">
                          <a:solidFill>
                            <a:srgbClr val="FF0000"/>
                          </a:solidFill>
                          <a:effectLst/>
                        </a:rPr>
                        <a:t>प्रश्न उठाया </a:t>
                      </a:r>
                      <a:r>
                        <a:rPr lang="hi-IN" sz="700" b="0" kern="1200" dirty="0">
                          <a:solidFill>
                            <a:schemeClr val="dk1"/>
                          </a:solidFill>
                          <a:effectLst/>
                        </a:rPr>
                        <a:t>कि क्या मधुमेह का उपशामन सम्भव है।</a:t>
                      </a:r>
                      <a:endParaRPr lang="hi-IN" sz="700" b="0" kern="1200" dirty="0">
                        <a:solidFill>
                          <a:schemeClr val="dk1"/>
                        </a:solidFill>
                        <a:effectLst/>
                        <a:latin typeface="+mn-lt"/>
                        <a:ea typeface="+mn-ea"/>
                        <a:cs typeface="+mn-cs"/>
                      </a:endParaRPr>
                    </a:p>
                  </a:txBody>
                  <a:tcPr marT="45721" marB="45721"/>
                </a:tc>
                <a:tc>
                  <a:txBody>
                    <a:bodyPr/>
                    <a:lstStyle/>
                    <a:p>
                      <a:r>
                        <a:rPr lang="en-US" sz="800" b="0" smtClean="0"/>
                        <a:t>The model hallucinates the grammatical tense by converting a present tense verb into a past tense action.</a:t>
                      </a:r>
                      <a:endParaRPr lang="en-US" sz="800" b="0" dirty="0">
                        <a:latin typeface="+mn-lt"/>
                        <a:cs typeface="Times New Roman" panose="02020603050405020304" pitchFamily="18" charset="0"/>
                      </a:endParaRPr>
                    </a:p>
                  </a:txBody>
                  <a:tcPr marT="45721" marB="45721"/>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45910025"/>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12</TotalTime>
  <Words>324</Words>
  <Application>Microsoft Office PowerPoint</Application>
  <PresentationFormat>Widescreen</PresentationFormat>
  <Paragraphs>30</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Mangal</vt:lpstr>
      <vt:lpstr>Times New Roman</vt:lpstr>
      <vt:lpstr>Vrinda</vt:lpstr>
      <vt:lpstr>Office 2013 - 2022 Theme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102</cp:revision>
  <dcterms:created xsi:type="dcterms:W3CDTF">2026-05-23T09:06:13Z</dcterms:created>
  <dcterms:modified xsi:type="dcterms:W3CDTF">2026-08-01T08:04:10Z</dcterms:modified>
</cp:coreProperties>
</file>