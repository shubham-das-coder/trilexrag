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6858000" cy="12192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25" d="100"/>
          <a:sy n="125" d="100"/>
        </p:scale>
        <p:origin x="1128" y="-17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995312"/>
            <a:ext cx="5829300" cy="4244622"/>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6403623"/>
            <a:ext cx="5143500" cy="2943577"/>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3FBDB0D-4B9C-498E-9619-33EBE6CBBBDD}" type="datetimeFigureOut">
              <a:rPr lang="en-IN" smtClean="0"/>
              <a:t>31-07-2026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9580540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FBDB0D-4B9C-498E-9619-33EBE6CBBBDD}" type="datetimeFigureOut">
              <a:rPr lang="en-IN" smtClean="0"/>
              <a:t>31-07-2026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20482102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3039537"/>
            <a:ext cx="5915025" cy="5071532"/>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8159048"/>
            <a:ext cx="5915025" cy="2666999"/>
          </a:xfrm>
        </p:spPr>
        <p:txBody>
          <a:bodyPr/>
          <a:lstStyle>
            <a:lvl1pPr marL="0" indent="0">
              <a:buNone/>
              <a:defRPr sz="1800">
                <a:solidFill>
                  <a:schemeClr val="tx1"/>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FBDB0D-4B9C-498E-9619-33EBE6CBBBDD}" type="datetimeFigureOut">
              <a:rPr lang="en-IN" smtClean="0"/>
              <a:t>31-07-2026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253891815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3245556"/>
            <a:ext cx="2914650" cy="77357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3245556"/>
            <a:ext cx="2914650" cy="77357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3FBDB0D-4B9C-498E-9619-33EBE6CBBBDD}" type="datetimeFigureOut">
              <a:rPr lang="en-IN" smtClean="0"/>
              <a:t>31-07-2026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24442236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649114"/>
            <a:ext cx="5915025" cy="2356556"/>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988734"/>
            <a:ext cx="2901255" cy="146473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4453467"/>
            <a:ext cx="2901255" cy="65503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988734"/>
            <a:ext cx="2915543" cy="146473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4453467"/>
            <a:ext cx="2915543" cy="65503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3FBDB0D-4B9C-498E-9619-33EBE6CBBBDD}" type="datetimeFigureOut">
              <a:rPr lang="en-IN" smtClean="0"/>
              <a:t>31-07-2026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2750791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3FBDB0D-4B9C-498E-9619-33EBE6CBBBDD}" type="datetimeFigureOut">
              <a:rPr lang="en-IN" smtClean="0"/>
              <a:t>31-07-2026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145128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3FBDB0D-4B9C-498E-9619-33EBE6CBBBDD}" type="datetimeFigureOut">
              <a:rPr lang="en-IN" smtClean="0"/>
              <a:t>31-07-2026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38853155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812800"/>
            <a:ext cx="2211884" cy="28448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755425"/>
            <a:ext cx="3471863" cy="8664222"/>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3657600"/>
            <a:ext cx="2211884" cy="677615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3FBDB0D-4B9C-498E-9619-33EBE6CBBBDD}" type="datetimeFigureOut">
              <a:rPr lang="en-IN" smtClean="0"/>
              <a:t>31-07-2026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24450381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812800"/>
            <a:ext cx="2211884" cy="28448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755425"/>
            <a:ext cx="3471863" cy="8664222"/>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3657600"/>
            <a:ext cx="2211884" cy="6776156"/>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53FBDB0D-4B9C-498E-9619-33EBE6CBBBDD}" type="datetimeFigureOut">
              <a:rPr lang="en-IN" smtClean="0"/>
              <a:t>31-07-2026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3043310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FBDB0D-4B9C-498E-9619-33EBE6CBBBDD}" type="datetimeFigureOut">
              <a:rPr lang="en-IN" smtClean="0"/>
              <a:t>31-07-2026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2310856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649111"/>
            <a:ext cx="1478756" cy="10332156"/>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649111"/>
            <a:ext cx="4350544" cy="103321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3FBDB0D-4B9C-498E-9619-33EBE6CBBBDD}" type="datetimeFigureOut">
              <a:rPr lang="en-IN" smtClean="0"/>
              <a:t>31-07-2026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25E9A957-5C75-4D4C-85D7-F5CE3274B0A5}" type="slidenum">
              <a:rPr lang="en-IN" smtClean="0"/>
              <a:t>‹#›</a:t>
            </a:fld>
            <a:endParaRPr lang="en-IN"/>
          </a:p>
        </p:txBody>
      </p:sp>
    </p:spTree>
    <p:extLst>
      <p:ext uri="{BB962C8B-B14F-4D97-AF65-F5344CB8AC3E}">
        <p14:creationId xmlns:p14="http://schemas.microsoft.com/office/powerpoint/2010/main" val="10984179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649114"/>
            <a:ext cx="5915025" cy="2356556"/>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3245556"/>
            <a:ext cx="5915025" cy="773571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11300181"/>
            <a:ext cx="1543050" cy="649111"/>
          </a:xfrm>
          <a:prstGeom prst="rect">
            <a:avLst/>
          </a:prstGeom>
        </p:spPr>
        <p:txBody>
          <a:bodyPr vert="horz" lIns="91440" tIns="45720" rIns="91440" bIns="45720" rtlCol="0" anchor="ctr"/>
          <a:lstStyle>
            <a:lvl1pPr algn="l">
              <a:defRPr sz="900">
                <a:solidFill>
                  <a:schemeClr val="tx1">
                    <a:tint val="75000"/>
                  </a:schemeClr>
                </a:solidFill>
              </a:defRPr>
            </a:lvl1pPr>
          </a:lstStyle>
          <a:p>
            <a:fld id="{53FBDB0D-4B9C-498E-9619-33EBE6CBBBDD}" type="datetimeFigureOut">
              <a:rPr lang="en-IN" smtClean="0"/>
              <a:t>31-07-2026</a:t>
            </a:fld>
            <a:endParaRPr lang="en-IN"/>
          </a:p>
        </p:txBody>
      </p:sp>
      <p:sp>
        <p:nvSpPr>
          <p:cNvPr id="5" name="Footer Placeholder 4"/>
          <p:cNvSpPr>
            <a:spLocks noGrp="1"/>
          </p:cNvSpPr>
          <p:nvPr>
            <p:ph type="ftr" sz="quarter" idx="3"/>
          </p:nvPr>
        </p:nvSpPr>
        <p:spPr>
          <a:xfrm>
            <a:off x="2271713" y="11300181"/>
            <a:ext cx="2314575" cy="649111"/>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4843463" y="11300181"/>
            <a:ext cx="1543050" cy="649111"/>
          </a:xfrm>
          <a:prstGeom prst="rect">
            <a:avLst/>
          </a:prstGeom>
        </p:spPr>
        <p:txBody>
          <a:bodyPr vert="horz" lIns="91440" tIns="45720" rIns="91440" bIns="45720" rtlCol="0" anchor="ctr"/>
          <a:lstStyle>
            <a:lvl1pPr algn="r">
              <a:defRPr sz="900">
                <a:solidFill>
                  <a:schemeClr val="tx1">
                    <a:tint val="75000"/>
                  </a:schemeClr>
                </a:solidFill>
              </a:defRPr>
            </a:lvl1pPr>
          </a:lstStyle>
          <a:p>
            <a:fld id="{25E9A957-5C75-4D4C-85D7-F5CE3274B0A5}" type="slidenum">
              <a:rPr lang="en-IN" smtClean="0"/>
              <a:t>‹#›</a:t>
            </a:fld>
            <a:endParaRPr lang="en-IN"/>
          </a:p>
        </p:txBody>
      </p:sp>
    </p:spTree>
    <p:extLst>
      <p:ext uri="{BB962C8B-B14F-4D97-AF65-F5344CB8AC3E}">
        <p14:creationId xmlns:p14="http://schemas.microsoft.com/office/powerpoint/2010/main" val="380718542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p:cNvGraphicFramePr>
            <a:graphicFrameLocks noGrp="1"/>
          </p:cNvGraphicFramePr>
          <p:nvPr>
            <p:extLst>
              <p:ext uri="{D42A27DB-BD31-4B8C-83A1-F6EECF244321}">
                <p14:modId xmlns:p14="http://schemas.microsoft.com/office/powerpoint/2010/main" val="408686670"/>
              </p:ext>
            </p:extLst>
          </p:nvPr>
        </p:nvGraphicFramePr>
        <p:xfrm>
          <a:off x="318743" y="2131177"/>
          <a:ext cx="6220513" cy="5830924"/>
        </p:xfrm>
        <a:graphic>
          <a:graphicData uri="http://schemas.openxmlformats.org/drawingml/2006/table">
            <a:tbl>
              <a:tblPr firstRow="1" bandRow="1">
                <a:tableStyleId>{D7AC3CCA-C797-4891-BE02-D94E43425B78}</a:tableStyleId>
              </a:tblPr>
              <a:tblGrid>
                <a:gridCol w="634648">
                  <a:extLst>
                    <a:ext uri="{9D8B030D-6E8A-4147-A177-3AD203B41FA5}">
                      <a16:colId xmlns:a16="http://schemas.microsoft.com/office/drawing/2014/main" xmlns="" val="20000"/>
                    </a:ext>
                  </a:extLst>
                </a:gridCol>
                <a:gridCol w="634648"/>
                <a:gridCol w="1257346">
                  <a:extLst>
                    <a:ext uri="{9D8B030D-6E8A-4147-A177-3AD203B41FA5}">
                      <a16:colId xmlns:a16="http://schemas.microsoft.com/office/drawing/2014/main" xmlns="" val="20001"/>
                    </a:ext>
                  </a:extLst>
                </a:gridCol>
                <a:gridCol w="1533876">
                  <a:extLst>
                    <a:ext uri="{9D8B030D-6E8A-4147-A177-3AD203B41FA5}">
                      <a16:colId xmlns:a16="http://schemas.microsoft.com/office/drawing/2014/main" xmlns="" val="20002"/>
                    </a:ext>
                  </a:extLst>
                </a:gridCol>
                <a:gridCol w="2159995">
                  <a:extLst>
                    <a:ext uri="{9D8B030D-6E8A-4147-A177-3AD203B41FA5}">
                      <a16:colId xmlns:a16="http://schemas.microsoft.com/office/drawing/2014/main" xmlns="" val="20003"/>
                    </a:ext>
                  </a:extLst>
                </a:gridCol>
              </a:tblGrid>
              <a:tr h="267855">
                <a:tc>
                  <a:txBody>
                    <a:bodyPr/>
                    <a:lstStyle/>
                    <a:p>
                      <a:r>
                        <a:rPr lang="en-US" sz="1200" b="0" dirty="0">
                          <a:solidFill>
                            <a:schemeClr val="bg1"/>
                          </a:solidFill>
                          <a:latin typeface="+mn-lt"/>
                          <a:cs typeface="Times New Roman" panose="02020603050405020304" pitchFamily="18" charset="0"/>
                        </a:rPr>
                        <a:t>Error </a:t>
                      </a:r>
                    </a:p>
                    <a:p>
                      <a:r>
                        <a:rPr lang="en-US" sz="1200" b="0" dirty="0">
                          <a:solidFill>
                            <a:schemeClr val="bg1"/>
                          </a:solidFill>
                          <a:latin typeface="+mn-lt"/>
                          <a:cs typeface="Times New Roman" panose="02020603050405020304" pitchFamily="18" charset="0"/>
                        </a:rPr>
                        <a:t>Type</a:t>
                      </a:r>
                      <a:endParaRPr lang="en-GB" sz="1200" b="0" dirty="0">
                        <a:solidFill>
                          <a:schemeClr val="bg1"/>
                        </a:solidFill>
                        <a:latin typeface="+mn-lt"/>
                        <a:cs typeface="Times New Roman" panose="02020603050405020304" pitchFamily="18" charset="0"/>
                      </a:endParaRPr>
                    </a:p>
                  </a:txBody>
                  <a:tcPr marT="45721" marB="45721">
                    <a:solidFill>
                      <a:schemeClr val="accent1"/>
                    </a:solidFill>
                  </a:tcPr>
                </a:tc>
                <a:tc>
                  <a:txBody>
                    <a:bodyPr/>
                    <a:lstStyle/>
                    <a:p>
                      <a:r>
                        <a:rPr lang="en-GB" sz="1200" b="0" dirty="0" smtClean="0">
                          <a:solidFill>
                            <a:schemeClr val="bg1"/>
                          </a:solidFill>
                          <a:latin typeface="+mn-lt"/>
                          <a:cs typeface="Times New Roman" panose="02020603050405020304" pitchFamily="18" charset="0"/>
                        </a:rPr>
                        <a:t>Model</a:t>
                      </a:r>
                      <a:endParaRPr lang="en-GB" sz="1200" b="0" dirty="0">
                        <a:solidFill>
                          <a:schemeClr val="bg1"/>
                        </a:solidFill>
                        <a:latin typeface="+mn-lt"/>
                        <a:cs typeface="Times New Roman" panose="02020603050405020304" pitchFamily="18" charset="0"/>
                      </a:endParaRPr>
                    </a:p>
                  </a:txBody>
                  <a:tcPr marT="45721" marB="45721">
                    <a:solidFill>
                      <a:schemeClr val="accent1"/>
                    </a:solidFill>
                  </a:tcPr>
                </a:tc>
                <a:tc>
                  <a:txBody>
                    <a:bodyPr/>
                    <a:lstStyle/>
                    <a:p>
                      <a:r>
                        <a:rPr lang="en-US" sz="1200" b="0" dirty="0">
                          <a:solidFill>
                            <a:schemeClr val="bg1"/>
                          </a:solidFill>
                          <a:latin typeface="+mn-lt"/>
                          <a:cs typeface="Times New Roman" panose="02020603050405020304" pitchFamily="18" charset="0"/>
                        </a:rPr>
                        <a:t>Source Language: Sanskrit</a:t>
                      </a:r>
                    </a:p>
                    <a:p>
                      <a:endParaRPr lang="en-GB" sz="1050" b="0" dirty="0">
                        <a:solidFill>
                          <a:schemeClr val="bg1"/>
                        </a:solidFill>
                        <a:latin typeface="+mn-lt"/>
                        <a:cs typeface="Times New Roman" panose="02020603050405020304" pitchFamily="18" charset="0"/>
                      </a:endParaRPr>
                    </a:p>
                  </a:txBody>
                  <a:tcPr marT="45721" marB="45721">
                    <a:solidFill>
                      <a:schemeClr val="accent1"/>
                    </a:solidFill>
                  </a:tcPr>
                </a:tc>
                <a:tc>
                  <a:txBody>
                    <a:bodyPr/>
                    <a:lstStyle/>
                    <a:p>
                      <a:r>
                        <a:rPr lang="en-US" sz="1050" b="0" dirty="0">
                          <a:solidFill>
                            <a:schemeClr val="bg1"/>
                          </a:solidFill>
                          <a:latin typeface="+mn-lt"/>
                          <a:cs typeface="Times New Roman" panose="02020603050405020304" pitchFamily="18" charset="0"/>
                        </a:rPr>
                        <a:t>Target Language:   Hindi</a:t>
                      </a:r>
                    </a:p>
                    <a:p>
                      <a:pPr marL="0" marR="0" lvl="0" indent="0" algn="l" defTabSz="685800" rtl="0" eaLnBrk="1" fontAlgn="auto" latinLnBrk="0" hangingPunct="1">
                        <a:lnSpc>
                          <a:spcPct val="100000"/>
                        </a:lnSpc>
                        <a:spcBef>
                          <a:spcPts val="0"/>
                        </a:spcBef>
                        <a:spcAft>
                          <a:spcPts val="0"/>
                        </a:spcAft>
                        <a:buClrTx/>
                        <a:buSzTx/>
                        <a:buFontTx/>
                        <a:buNone/>
                        <a:tabLst/>
                        <a:defRPr/>
                      </a:pPr>
                      <a:r>
                        <a:rPr lang="en-US" sz="1200" b="0" dirty="0">
                          <a:solidFill>
                            <a:schemeClr val="bg1"/>
                          </a:solidFill>
                          <a:latin typeface="+mn-lt"/>
                          <a:cs typeface="Times New Roman" panose="02020603050405020304" pitchFamily="18" charset="0"/>
                        </a:rPr>
                        <a:t>LLM Hallucination</a:t>
                      </a:r>
                    </a:p>
                    <a:p>
                      <a:endParaRPr lang="en-US" sz="1050" b="0" dirty="0">
                        <a:solidFill>
                          <a:schemeClr val="bg1"/>
                        </a:solidFill>
                        <a:latin typeface="+mn-lt"/>
                        <a:cs typeface="Times New Roman" panose="02020603050405020304" pitchFamily="18" charset="0"/>
                      </a:endParaRPr>
                    </a:p>
                  </a:txBody>
                  <a:tcPr marT="45721" marB="45721">
                    <a:solidFill>
                      <a:schemeClr val="accent1"/>
                    </a:solidFill>
                  </a:tcPr>
                </a:tc>
                <a:tc>
                  <a:txBody>
                    <a:bodyPr/>
                    <a:lstStyle/>
                    <a:p>
                      <a:r>
                        <a:rPr lang="en-US" sz="1200" b="0" dirty="0">
                          <a:solidFill>
                            <a:schemeClr val="bg1"/>
                          </a:solidFill>
                          <a:latin typeface="+mn-lt"/>
                          <a:cs typeface="Times New Roman" panose="02020603050405020304" pitchFamily="18" charset="0"/>
                        </a:rPr>
                        <a:t>Explanation</a:t>
                      </a:r>
                      <a:endParaRPr lang="en-GB" sz="1200" b="0" dirty="0">
                        <a:solidFill>
                          <a:schemeClr val="bg1"/>
                        </a:solidFill>
                        <a:latin typeface="+mn-lt"/>
                        <a:cs typeface="Times New Roman" panose="02020603050405020304" pitchFamily="18" charset="0"/>
                      </a:endParaRPr>
                    </a:p>
                  </a:txBody>
                  <a:tcPr marT="45721" marB="45721">
                    <a:solidFill>
                      <a:schemeClr val="accent1"/>
                    </a:solidFill>
                  </a:tcPr>
                </a:tc>
                <a:extLst>
                  <a:ext uri="{0D108BD9-81ED-4DB2-BD59-A6C34878D82A}">
                    <a16:rowId xmlns:a16="http://schemas.microsoft.com/office/drawing/2014/main" xmlns="" val="10000"/>
                  </a:ext>
                </a:extLst>
              </a:tr>
              <a:tr h="801251">
                <a:tc>
                  <a:txBody>
                    <a:bodyPr/>
                    <a:lstStyle/>
                    <a:p>
                      <a:r>
                        <a:rPr lang="en-US" sz="900" b="1" dirty="0">
                          <a:latin typeface="+mn-lt"/>
                          <a:cs typeface="Times New Roman" panose="02020603050405020304" pitchFamily="18" charset="0"/>
                        </a:rPr>
                        <a:t>Location</a:t>
                      </a:r>
                      <a:endParaRPr lang="en-GB" sz="900" b="1" dirty="0">
                        <a:latin typeface="+mn-lt"/>
                        <a:cs typeface="Times New Roman" panose="02020603050405020304" pitchFamily="18" charset="0"/>
                      </a:endParaRPr>
                    </a:p>
                  </a:txBody>
                  <a:tcPr marT="45721" marB="45721">
                    <a:solidFill>
                      <a:schemeClr val="accent1">
                        <a:lumMod val="20000"/>
                        <a:lumOff val="80000"/>
                      </a:schemeClr>
                    </a:solidFill>
                  </a:tcPr>
                </a:tc>
                <a:tc>
                  <a:txBody>
                    <a:bodyPr/>
                    <a:lstStyle/>
                    <a:p>
                      <a:r>
                        <a:rPr lang="en-GB" sz="900" b="1" dirty="0" smtClean="0">
                          <a:latin typeface="+mn-lt"/>
                          <a:cs typeface="Times New Roman" panose="02020603050405020304" pitchFamily="18" charset="0"/>
                        </a:rPr>
                        <a:t>Qwen3</a:t>
                      </a:r>
                      <a:endParaRPr lang="en-GB" sz="900" b="1" dirty="0">
                        <a:latin typeface="+mn-lt"/>
                        <a:cs typeface="Times New Roman" panose="02020603050405020304" pitchFamily="18" charset="0"/>
                      </a:endParaRP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ह.. ह.. इदं न </a:t>
                      </a:r>
                      <a:r>
                        <a:rPr lang="hi-IN" sz="900" b="0" kern="1200" dirty="0">
                          <a:solidFill>
                            <a:srgbClr val="FF0000"/>
                          </a:solidFill>
                          <a:effectLst/>
                          <a:latin typeface="+mn-lt"/>
                          <a:ea typeface="+mn-ea"/>
                          <a:cs typeface="+mn-cs"/>
                        </a:rPr>
                        <a:t>गुर्गांव् नगरम्</a:t>
                      </a:r>
                      <a:r>
                        <a:rPr lang="hi-IN" sz="900" b="0" kern="1200" dirty="0">
                          <a:solidFill>
                            <a:schemeClr val="dk1"/>
                          </a:solidFill>
                          <a:effectLst/>
                          <a:latin typeface="+mn-lt"/>
                          <a:ea typeface="+mn-ea"/>
                          <a:cs typeface="+mn-cs"/>
                        </a:rPr>
                        <a:t>।</a:t>
                      </a: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ह... ह... यह </a:t>
                      </a:r>
                      <a:r>
                        <a:rPr lang="hi-IN" sz="900" b="0" kern="1200" dirty="0">
                          <a:solidFill>
                            <a:srgbClr val="FF0000"/>
                          </a:solidFill>
                          <a:effectLst/>
                          <a:latin typeface="+mn-lt"/>
                          <a:ea typeface="+mn-ea"/>
                          <a:cs typeface="+mn-cs"/>
                        </a:rPr>
                        <a:t>गूर्जां नागर </a:t>
                      </a:r>
                      <a:r>
                        <a:rPr lang="hi-IN" sz="900" b="0" kern="1200" dirty="0">
                          <a:solidFill>
                            <a:schemeClr val="dk1"/>
                          </a:solidFill>
                          <a:effectLst/>
                          <a:latin typeface="+mn-lt"/>
                          <a:ea typeface="+mn-ea"/>
                          <a:cs typeface="+mn-cs"/>
                        </a:rPr>
                        <a:t>में अन्तरित नहीं है।</a:t>
                      </a:r>
                    </a:p>
                  </a:txBody>
                  <a:tcPr marT="45721" marB="45721">
                    <a:solidFill>
                      <a:schemeClr val="accent1">
                        <a:lumMod val="20000"/>
                        <a:lumOff val="80000"/>
                      </a:schemeClr>
                    </a:solidFill>
                  </a:tcPr>
                </a:tc>
                <a:tc>
                  <a:txBody>
                    <a:bodyPr/>
                    <a:lstStyle/>
                    <a:p>
                      <a:r>
                        <a:rPr lang="en-US" sz="900" b="0" dirty="0">
                          <a:latin typeface="+mn-lt"/>
                          <a:cs typeface="Times New Roman" panose="02020603050405020304" pitchFamily="18" charset="0"/>
                        </a:rPr>
                        <a:t>The model hallucinates a non-existent place name “</a:t>
                      </a:r>
                      <a:r>
                        <a:rPr lang="en-US" sz="900" b="0" dirty="0" err="1">
                          <a:latin typeface="+mn-lt"/>
                          <a:cs typeface="Times New Roman" panose="02020603050405020304" pitchFamily="18" charset="0"/>
                        </a:rPr>
                        <a:t>Gurjan</a:t>
                      </a:r>
                      <a:r>
                        <a:rPr lang="en-US" sz="900" b="0" dirty="0">
                          <a:latin typeface="+mn-lt"/>
                          <a:cs typeface="Times New Roman" panose="02020603050405020304" pitchFamily="18" charset="0"/>
                        </a:rPr>
                        <a:t> Nagar” instead of “Gurgaon” and further distorts a simple negation into an ungrammatical phrase, showing both </a:t>
                      </a:r>
                      <a:r>
                        <a:rPr lang="en-US" sz="900" b="0" dirty="0" err="1">
                          <a:latin typeface="+mn-lt"/>
                          <a:cs typeface="Times New Roman" panose="02020603050405020304" pitchFamily="18" charset="0"/>
                        </a:rPr>
                        <a:t>toponym</a:t>
                      </a:r>
                      <a:r>
                        <a:rPr lang="en-US" sz="900" b="0" dirty="0">
                          <a:latin typeface="+mn-lt"/>
                          <a:cs typeface="Times New Roman" panose="02020603050405020304" pitchFamily="18" charset="0"/>
                        </a:rPr>
                        <a:t> fabrication and semantic drift.</a:t>
                      </a:r>
                    </a:p>
                  </a:txBody>
                  <a:tcPr marT="45721" marB="45721">
                    <a:solidFill>
                      <a:schemeClr val="accent1">
                        <a:lumMod val="20000"/>
                        <a:lumOff val="80000"/>
                      </a:schemeClr>
                    </a:solidFill>
                  </a:tcPr>
                </a:tc>
                <a:extLst>
                  <a:ext uri="{0D108BD9-81ED-4DB2-BD59-A6C34878D82A}">
                    <a16:rowId xmlns:a16="http://schemas.microsoft.com/office/drawing/2014/main" xmlns="" val="10001"/>
                  </a:ext>
                </a:extLst>
              </a:tr>
              <a:tr h="808756">
                <a:tc>
                  <a:txBody>
                    <a:bodyPr/>
                    <a:lstStyle/>
                    <a:p>
                      <a:r>
                        <a:rPr lang="en-GB" sz="900" b="1" dirty="0">
                          <a:latin typeface="+mn-lt"/>
                          <a:cs typeface="Times New Roman" panose="02020603050405020304" pitchFamily="18" charset="0"/>
                        </a:rPr>
                        <a:t>Negation</a:t>
                      </a:r>
                    </a:p>
                  </a:txBody>
                  <a:tcPr marT="45721" marB="45721">
                    <a:solidFill>
                      <a:schemeClr val="accent1">
                        <a:lumMod val="20000"/>
                        <a:lumOff val="80000"/>
                      </a:schemeClr>
                    </a:solidFill>
                  </a:tcPr>
                </a:tc>
                <a:tc>
                  <a:txBody>
                    <a:bodyPr/>
                    <a:lstStyle/>
                    <a:p>
                      <a:r>
                        <a:rPr lang="en-GB" sz="900" b="1" dirty="0" smtClean="0">
                          <a:latin typeface="+mn-lt"/>
                          <a:cs typeface="Times New Roman" panose="02020603050405020304" pitchFamily="18" charset="0"/>
                        </a:rPr>
                        <a:t>Qwen3</a:t>
                      </a:r>
                      <a:endParaRPr lang="en-GB" sz="900" b="1" dirty="0">
                        <a:latin typeface="+mn-lt"/>
                        <a:cs typeface="Times New Roman" panose="02020603050405020304" pitchFamily="18" charset="0"/>
                      </a:endParaRP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एते न केवलं दुरासक्तिं जनयन्ति परं </a:t>
                      </a:r>
                      <a:r>
                        <a:rPr lang="hi-IN" sz="900" b="0" kern="1200" dirty="0">
                          <a:solidFill>
                            <a:srgbClr val="FF0000"/>
                          </a:solidFill>
                          <a:effectLst/>
                          <a:latin typeface="+mn-lt"/>
                          <a:ea typeface="+mn-ea"/>
                          <a:cs typeface="+mn-cs"/>
                        </a:rPr>
                        <a:t>गोर्दस्योपरि</a:t>
                      </a:r>
                      <a:r>
                        <a:rPr lang="hi-IN" sz="900" b="0" kern="1200" dirty="0">
                          <a:solidFill>
                            <a:schemeClr val="dk1"/>
                          </a:solidFill>
                          <a:effectLst/>
                          <a:latin typeface="+mn-lt"/>
                          <a:ea typeface="+mn-ea"/>
                          <a:cs typeface="+mn-cs"/>
                        </a:rPr>
                        <a:t> दुष्परिणामन् जनयन्ति च।</a:t>
                      </a: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इनमें से केबल अच्छी नहीं है, और उनका ऊपर </a:t>
                      </a:r>
                      <a:r>
                        <a:rPr lang="hi-IN" sz="900" b="0" kern="1200" dirty="0">
                          <a:solidFill>
                            <a:srgbClr val="FF0000"/>
                          </a:solidFill>
                          <a:effectLst/>
                          <a:latin typeface="+mn-lt"/>
                          <a:ea typeface="+mn-ea"/>
                          <a:cs typeface="+mn-cs"/>
                        </a:rPr>
                        <a:t>गौर्डस्थ</a:t>
                      </a:r>
                      <a:r>
                        <a:rPr lang="hi-IN" sz="900" b="0" kern="1200" dirty="0">
                          <a:solidFill>
                            <a:schemeClr val="dk1"/>
                          </a:solidFill>
                          <a:effectLst/>
                          <a:latin typeface="+mn-lt"/>
                          <a:ea typeface="+mn-ea"/>
                          <a:cs typeface="+mn-cs"/>
                        </a:rPr>
                        <a:t> के ऊर्ध्व में भी खराब परिफल उत्पन्न करते हूँ।</a:t>
                      </a:r>
                    </a:p>
                  </a:txBody>
                  <a:tcPr marT="45721" marB="45721">
                    <a:solidFill>
                      <a:schemeClr val="accent1">
                        <a:lumMod val="20000"/>
                        <a:lumOff val="80000"/>
                      </a:schemeClr>
                    </a:solidFill>
                  </a:tcPr>
                </a:tc>
                <a:tc>
                  <a:txBody>
                    <a:bodyPr/>
                    <a:lstStyle/>
                    <a:p>
                      <a:r>
                        <a:rPr lang="en-IN" sz="900" b="0" dirty="0">
                          <a:latin typeface="+mn-lt"/>
                          <a:cs typeface="Times New Roman" panose="02020603050405020304" pitchFamily="18" charset="0"/>
                        </a:rPr>
                        <a:t>The model hallucinated a non-existent </a:t>
                      </a:r>
                      <a:r>
                        <a:rPr lang="en-IN" sz="900" b="0" dirty="0" err="1">
                          <a:latin typeface="+mn-lt"/>
                          <a:cs typeface="Times New Roman" panose="02020603050405020304" pitchFamily="18" charset="0"/>
                        </a:rPr>
                        <a:t>toponym</a:t>
                      </a:r>
                      <a:r>
                        <a:rPr lang="en-IN" sz="900" b="0" dirty="0">
                          <a:latin typeface="+mn-lt"/>
                          <a:cs typeface="Times New Roman" panose="02020603050405020304" pitchFamily="18" charset="0"/>
                        </a:rPr>
                        <a:t>-like entity “</a:t>
                      </a:r>
                      <a:r>
                        <a:rPr lang="en-IN" sz="900" b="0" dirty="0" err="1">
                          <a:latin typeface="+mn-lt"/>
                          <a:cs typeface="Times New Roman" panose="02020603050405020304" pitchFamily="18" charset="0"/>
                        </a:rPr>
                        <a:t>Gourdsth</a:t>
                      </a:r>
                      <a:r>
                        <a:rPr lang="en-IN" sz="900" b="0" dirty="0">
                          <a:latin typeface="+mn-lt"/>
                          <a:cs typeface="Times New Roman" panose="02020603050405020304" pitchFamily="18" charset="0"/>
                        </a:rPr>
                        <a:t>”</a:t>
                      </a:r>
                      <a:r>
                        <a:rPr lang="hi-IN" sz="900" b="0" dirty="0">
                          <a:latin typeface="+mn-lt"/>
                        </a:rPr>
                        <a:t>, </a:t>
                      </a:r>
                      <a:r>
                        <a:rPr lang="en-IN" sz="900" b="0" dirty="0">
                          <a:latin typeface="+mn-lt"/>
                          <a:cs typeface="Times New Roman" panose="02020603050405020304" pitchFamily="18" charset="0"/>
                        </a:rPr>
                        <a:t>introducing an artificial location reference that is not present in the source and distorting the original non-spatial philosophical statement.</a:t>
                      </a:r>
                    </a:p>
                  </a:txBody>
                  <a:tcPr marT="45721" marB="45721">
                    <a:solidFill>
                      <a:schemeClr val="accent1">
                        <a:lumMod val="20000"/>
                        <a:lumOff val="80000"/>
                      </a:schemeClr>
                    </a:solidFill>
                  </a:tcPr>
                </a:tc>
                <a:extLst>
                  <a:ext uri="{0D108BD9-81ED-4DB2-BD59-A6C34878D82A}">
                    <a16:rowId xmlns:a16="http://schemas.microsoft.com/office/drawing/2014/main" xmlns="" val="10002"/>
                  </a:ext>
                </a:extLst>
              </a:tr>
              <a:tr h="961734">
                <a:tc>
                  <a:txBody>
                    <a:bodyPr/>
                    <a:lstStyle/>
                    <a:p>
                      <a:r>
                        <a:rPr lang="en-GB" sz="900" b="1" dirty="0">
                          <a:latin typeface="+mn-lt"/>
                          <a:cs typeface="Times New Roman" panose="02020603050405020304" pitchFamily="18" charset="0"/>
                        </a:rPr>
                        <a:t>Person</a:t>
                      </a:r>
                    </a:p>
                  </a:txBody>
                  <a:tcPr marT="45721" marB="45721">
                    <a:solidFill>
                      <a:schemeClr val="accent1">
                        <a:lumMod val="20000"/>
                        <a:lumOff val="80000"/>
                      </a:schemeClr>
                    </a:solidFill>
                  </a:tcPr>
                </a:tc>
                <a:tc>
                  <a:txBody>
                    <a:bodyPr/>
                    <a:lstStyle/>
                    <a:p>
                      <a:r>
                        <a:rPr lang="en-GB" sz="900" b="1" dirty="0" smtClean="0">
                          <a:latin typeface="+mn-lt"/>
                          <a:cs typeface="Times New Roman" panose="02020603050405020304" pitchFamily="18" charset="0"/>
                        </a:rPr>
                        <a:t>Qwen3</a:t>
                      </a:r>
                      <a:endParaRPr lang="en-GB" sz="900" b="1" dirty="0">
                        <a:latin typeface="+mn-lt"/>
                        <a:cs typeface="Times New Roman" panose="02020603050405020304" pitchFamily="18" charset="0"/>
                      </a:endParaRP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तस्मात्‌ </a:t>
                      </a:r>
                      <a:r>
                        <a:rPr lang="hi-IN" sz="900" b="0" kern="1200" dirty="0">
                          <a:solidFill>
                            <a:srgbClr val="FF0000"/>
                          </a:solidFill>
                          <a:effectLst/>
                          <a:latin typeface="+mn-lt"/>
                          <a:ea typeface="+mn-ea"/>
                          <a:cs typeface="+mn-cs"/>
                        </a:rPr>
                        <a:t>विश्वकर्मा</a:t>
                      </a:r>
                      <a:r>
                        <a:rPr lang="hi-IN" sz="900" b="0" kern="1200" dirty="0">
                          <a:solidFill>
                            <a:schemeClr val="dk1"/>
                          </a:solidFill>
                          <a:effectLst/>
                          <a:latin typeface="+mn-lt"/>
                          <a:ea typeface="+mn-ea"/>
                          <a:cs typeface="+mn-cs"/>
                        </a:rPr>
                        <a:t> </a:t>
                      </a:r>
                      <a:r>
                        <a:rPr lang="hi-IN" sz="900" b="0" kern="1200" dirty="0">
                          <a:solidFill>
                            <a:srgbClr val="FF0000"/>
                          </a:solidFill>
                          <a:effectLst/>
                          <a:latin typeface="+mn-lt"/>
                          <a:ea typeface="+mn-ea"/>
                          <a:cs typeface="+mn-cs"/>
                        </a:rPr>
                        <a:t>गर्जनं कुर्वन्तं</a:t>
                      </a:r>
                      <a:r>
                        <a:rPr lang="hi-IN" sz="900" b="0" kern="1200" dirty="0">
                          <a:solidFill>
                            <a:schemeClr val="dk1"/>
                          </a:solidFill>
                          <a:effectLst/>
                          <a:latin typeface="+mn-lt"/>
                          <a:ea typeface="+mn-ea"/>
                          <a:cs typeface="+mn-cs"/>
                        </a:rPr>
                        <a:t> वज्रं निर्मितवान्‌।</a:t>
                      </a: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इसलिए </a:t>
                      </a:r>
                      <a:r>
                        <a:rPr lang="hi-IN" sz="900" b="0" kern="1200" dirty="0">
                          <a:solidFill>
                            <a:srgbClr val="FF0000"/>
                          </a:solidFill>
                          <a:effectLst/>
                          <a:latin typeface="+mn-lt"/>
                          <a:ea typeface="+mn-ea"/>
                          <a:cs typeface="+mn-cs"/>
                        </a:rPr>
                        <a:t>वैश्यकरमा घोषणा करते हुए वच्र</a:t>
                      </a:r>
                      <a:r>
                        <a:rPr lang="hi-IN" sz="900" b="0" kern="1200" dirty="0">
                          <a:solidFill>
                            <a:schemeClr val="dk1"/>
                          </a:solidFill>
                          <a:effectLst/>
                          <a:latin typeface="+mn-lt"/>
                          <a:ea typeface="+mn-ea"/>
                          <a:cs typeface="+mn-cs"/>
                        </a:rPr>
                        <a:t> की रचना </a:t>
                      </a:r>
                      <a:r>
                        <a:rPr lang="hi-IN" sz="900" b="0" kern="1200" dirty="0">
                          <a:solidFill>
                            <a:srgbClr val="FF0000"/>
                          </a:solidFill>
                          <a:effectLst/>
                          <a:latin typeface="+mn-lt"/>
                          <a:ea typeface="+mn-ea"/>
                          <a:cs typeface="+mn-cs"/>
                        </a:rPr>
                        <a:t>किल चला</a:t>
                      </a:r>
                      <a:r>
                        <a:rPr lang="hi-IN" sz="900" b="0" kern="1200" dirty="0">
                          <a:solidFill>
                            <a:schemeClr val="dk1"/>
                          </a:solidFill>
                          <a:effectLst/>
                          <a:latin typeface="+mn-lt"/>
                          <a:ea typeface="+mn-ea"/>
                          <a:cs typeface="+mn-cs"/>
                        </a:rPr>
                        <a:t>।</a:t>
                      </a:r>
                    </a:p>
                  </a:txBody>
                  <a:tcPr marT="45721" marB="45721">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cs typeface="Times New Roman" panose="02020603050405020304" pitchFamily="18" charset="0"/>
                        </a:rPr>
                        <a:t>The model hallucinates a fictional agent-action sequence by distorting “</a:t>
                      </a:r>
                      <a:r>
                        <a:rPr lang="en-US" sz="900" b="0" dirty="0" err="1">
                          <a:latin typeface="+mn-lt"/>
                          <a:cs typeface="Times New Roman" panose="02020603050405020304" pitchFamily="18" charset="0"/>
                        </a:rPr>
                        <a:t>Vishwakarma</a:t>
                      </a:r>
                      <a:r>
                        <a:rPr lang="en-US" sz="900" b="0" dirty="0">
                          <a:latin typeface="+mn-lt"/>
                          <a:cs typeface="Times New Roman" panose="02020603050405020304" pitchFamily="18" charset="0"/>
                        </a:rPr>
                        <a:t>” and turning a simple statement about forging a thunderbolt into an incoherent event with unrelated actions and non-existent narrative details.</a:t>
                      </a:r>
                    </a:p>
                  </a:txBody>
                  <a:tcPr marT="45721" marB="45721">
                    <a:solidFill>
                      <a:schemeClr val="accent1">
                        <a:lumMod val="20000"/>
                        <a:lumOff val="80000"/>
                      </a:schemeClr>
                    </a:solidFill>
                  </a:tcPr>
                </a:tc>
                <a:extLst>
                  <a:ext uri="{0D108BD9-81ED-4DB2-BD59-A6C34878D82A}">
                    <a16:rowId xmlns:a16="http://schemas.microsoft.com/office/drawing/2014/main" xmlns="" val="10003"/>
                  </a:ext>
                </a:extLst>
              </a:tr>
              <a:tr h="929406">
                <a:tc>
                  <a:txBody>
                    <a:bodyPr/>
                    <a:lstStyle/>
                    <a:p>
                      <a:r>
                        <a:rPr lang="en-GB" sz="900" b="1" dirty="0">
                          <a:latin typeface="+mn-lt"/>
                          <a:cs typeface="Times New Roman" panose="02020603050405020304" pitchFamily="18" charset="0"/>
                        </a:rPr>
                        <a:t>Number</a:t>
                      </a:r>
                    </a:p>
                  </a:txBody>
                  <a:tcPr marT="45721" marB="45721">
                    <a:solidFill>
                      <a:schemeClr val="accent1">
                        <a:lumMod val="20000"/>
                        <a:lumOff val="80000"/>
                      </a:schemeClr>
                    </a:solidFill>
                  </a:tcPr>
                </a:tc>
                <a:tc>
                  <a:txBody>
                    <a:bodyPr/>
                    <a:lstStyle/>
                    <a:p>
                      <a:r>
                        <a:rPr lang="en-GB" sz="900" b="1" dirty="0" smtClean="0">
                          <a:latin typeface="+mn-lt"/>
                          <a:cs typeface="Times New Roman" panose="02020603050405020304" pitchFamily="18" charset="0"/>
                        </a:rPr>
                        <a:t>Qwen3</a:t>
                      </a:r>
                      <a:endParaRPr lang="en-GB" sz="900" b="1" dirty="0">
                        <a:latin typeface="+mn-lt"/>
                        <a:cs typeface="Times New Roman" panose="02020603050405020304" pitchFamily="18" charset="0"/>
                      </a:endParaRPr>
                    </a:p>
                  </a:txBody>
                  <a:tcPr marT="45721" marB="45721">
                    <a:solidFill>
                      <a:schemeClr val="accent1">
                        <a:lumMod val="20000"/>
                        <a:lumOff val="80000"/>
                      </a:schemeClr>
                    </a:solidFill>
                  </a:tcPr>
                </a:tc>
                <a:tc>
                  <a:txBody>
                    <a:bodyPr/>
                    <a:lstStyle/>
                    <a:p>
                      <a:r>
                        <a:rPr lang="hi-IN" sz="900" b="0" kern="1200" dirty="0">
                          <a:solidFill>
                            <a:srgbClr val="FF0000"/>
                          </a:solidFill>
                          <a:effectLst/>
                          <a:latin typeface="+mn-lt"/>
                          <a:ea typeface="+mn-ea"/>
                          <a:cs typeface="+mn-cs"/>
                        </a:rPr>
                        <a:t>2017 </a:t>
                      </a:r>
                      <a:r>
                        <a:rPr lang="hi-IN" sz="900" b="0" kern="1200" dirty="0">
                          <a:solidFill>
                            <a:schemeClr val="dk1"/>
                          </a:solidFill>
                          <a:effectLst/>
                          <a:latin typeface="+mn-lt"/>
                          <a:ea typeface="+mn-ea"/>
                          <a:cs typeface="+mn-cs"/>
                        </a:rPr>
                        <a:t>वर्षस्य उत्तरार्धे सिमनोफमहोदयः दूरदर्शनस्य क्युव्हीसी इति विपणिवाहिन्यां प्रकटीभूतः।</a:t>
                      </a:r>
                    </a:p>
                  </a:txBody>
                  <a:tcPr marT="45721" marB="45721">
                    <a:solidFill>
                      <a:schemeClr val="accent1">
                        <a:lumMod val="20000"/>
                        <a:lumOff val="80000"/>
                      </a:schemeClr>
                    </a:solidFill>
                  </a:tcPr>
                </a:tc>
                <a:tc>
                  <a:txBody>
                    <a:bodyPr/>
                    <a:lstStyle/>
                    <a:p>
                      <a:r>
                        <a:rPr lang="hi-IN" sz="900" b="0" kern="1200" dirty="0">
                          <a:solidFill>
                            <a:srgbClr val="FF0000"/>
                          </a:solidFill>
                          <a:effectLst/>
                          <a:latin typeface="+mn-lt"/>
                          <a:ea typeface="+mn-ea"/>
                          <a:cs typeface="+mn-cs"/>
                        </a:rPr>
                        <a:t>2007</a:t>
                      </a:r>
                      <a:r>
                        <a:rPr lang="hi-IN" sz="900" b="0" kern="1200" dirty="0">
                          <a:solidFill>
                            <a:schemeClr val="dk1"/>
                          </a:solidFill>
                          <a:effectLst/>
                          <a:latin typeface="+mn-lt"/>
                          <a:ea typeface="+mn-ea"/>
                          <a:cs typeface="+mn-cs"/>
                        </a:rPr>
                        <a:t> के अंत में सिंमानोफ महोत्सव दुर्गम चैनल के क्वीवीसि बिक्री के माध्यम से प्रसारित हुए।</a:t>
                      </a:r>
                    </a:p>
                  </a:txBody>
                  <a:tcPr marT="45721" marB="45721">
                    <a:solidFill>
                      <a:schemeClr val="accent1">
                        <a:lumMod val="20000"/>
                        <a:lumOff val="80000"/>
                      </a:schemeClr>
                    </a:solidFill>
                  </a:tcPr>
                </a:tc>
                <a:tc>
                  <a:txBody>
                    <a:bodyPr/>
                    <a:lstStyle/>
                    <a:p>
                      <a:r>
                        <a:rPr lang="en-US" sz="900" b="0" dirty="0">
                          <a:latin typeface="+mn-lt"/>
                          <a:cs typeface="Times New Roman" panose="02020603050405020304" pitchFamily="18" charset="0"/>
                        </a:rPr>
                        <a:t>The model hallucinates by changing the year, altering the named entity, and replacing the original broadcast appearance on a television channel with an incorrect and fabricated description involving different entities and an unrelated sales-based context.</a:t>
                      </a:r>
                    </a:p>
                  </a:txBody>
                  <a:tcPr marT="45721" marB="45721">
                    <a:solidFill>
                      <a:schemeClr val="accent1">
                        <a:lumMod val="20000"/>
                        <a:lumOff val="80000"/>
                      </a:schemeClr>
                    </a:solidFill>
                  </a:tcPr>
                </a:tc>
                <a:extLst>
                  <a:ext uri="{0D108BD9-81ED-4DB2-BD59-A6C34878D82A}">
                    <a16:rowId xmlns:a16="http://schemas.microsoft.com/office/drawing/2014/main" xmlns="" val="10004"/>
                  </a:ext>
                </a:extLst>
              </a:tr>
              <a:tr h="1059304">
                <a:tc>
                  <a:txBody>
                    <a:bodyPr/>
                    <a:lstStyle/>
                    <a:p>
                      <a:r>
                        <a:rPr lang="en-GB" sz="900" b="1" dirty="0">
                          <a:latin typeface="+mn-lt"/>
                          <a:cs typeface="Times New Roman" panose="02020603050405020304" pitchFamily="18" charset="0"/>
                        </a:rPr>
                        <a:t>Script</a:t>
                      </a:r>
                    </a:p>
                  </a:txBody>
                  <a:tcPr marT="45721" marB="45721">
                    <a:solidFill>
                      <a:schemeClr val="accent1">
                        <a:lumMod val="20000"/>
                        <a:lumOff val="80000"/>
                      </a:schemeClr>
                    </a:solidFill>
                  </a:tcPr>
                </a:tc>
                <a:tc>
                  <a:txBody>
                    <a:bodyPr/>
                    <a:lstStyle/>
                    <a:p>
                      <a:r>
                        <a:rPr lang="en-GB" sz="900" b="1" dirty="0" smtClean="0">
                          <a:latin typeface="+mn-lt"/>
                          <a:cs typeface="Times New Roman" panose="02020603050405020304" pitchFamily="18" charset="0"/>
                        </a:rPr>
                        <a:t>Qwen3</a:t>
                      </a:r>
                      <a:endParaRPr lang="en-GB" sz="900" b="1" dirty="0">
                        <a:latin typeface="+mn-lt"/>
                        <a:cs typeface="Times New Roman" panose="02020603050405020304" pitchFamily="18" charset="0"/>
                      </a:endParaRP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यद्यपि प्लवपश्चात् जलस्तरः केचन फीटमात्रं वर्धिष्यति तर्हि अधिकारिणः आशासन्ते यत् नष्टानां मृदादण्डानां पुनर्स्थापनायै इदम् अलं भवेत्।</a:t>
                      </a:r>
                    </a:p>
                    <a:p>
                      <a:endParaRPr lang="hi-IN" sz="900" b="0" kern="1200" dirty="0">
                        <a:solidFill>
                          <a:schemeClr val="dk1"/>
                        </a:solidFill>
                        <a:effectLst/>
                        <a:latin typeface="+mn-lt"/>
                        <a:ea typeface="+mn-ea"/>
                        <a:cs typeface="+mn-cs"/>
                      </a:endParaRPr>
                    </a:p>
                  </a:txBody>
                  <a:tcPr marT="45721" marB="45721">
                    <a:solidFill>
                      <a:schemeClr val="accent1">
                        <a:lumMod val="20000"/>
                        <a:lumOff val="80000"/>
                      </a:schemeClr>
                    </a:solidFill>
                  </a:tcPr>
                </a:tc>
                <a:tc>
                  <a:txBody>
                    <a:bodyPr/>
                    <a:lstStyle/>
                    <a:p>
                      <a:r>
                        <a:rPr lang="hi-IN" sz="900" b="0" kern="1200" dirty="0">
                          <a:solidFill>
                            <a:schemeClr val="dk1"/>
                          </a:solidFill>
                          <a:effectLst/>
                          <a:latin typeface="+mn-lt"/>
                          <a:ea typeface="+mn-ea"/>
                          <a:cs typeface="+mn-cs"/>
                        </a:rPr>
                        <a:t>अगर ज</a:t>
                      </a:r>
                      <a:r>
                        <a:rPr lang="as-IN" sz="900" b="0" kern="1200" dirty="0">
                          <a:solidFill>
                            <a:srgbClr val="FF0000"/>
                          </a:solidFill>
                          <a:effectLst/>
                          <a:latin typeface="+mn-lt"/>
                          <a:ea typeface="+mn-ea"/>
                          <a:cs typeface="+mn-cs"/>
                        </a:rPr>
                        <a:t>ল</a:t>
                      </a:r>
                      <a:r>
                        <a:rPr lang="as-IN" sz="900" b="0" kern="1200" dirty="0">
                          <a:solidFill>
                            <a:schemeClr val="dk1"/>
                          </a:solidFill>
                          <a:effectLst/>
                          <a:latin typeface="+mn-lt"/>
                          <a:ea typeface="+mn-ea"/>
                          <a:cs typeface="+mn-cs"/>
                        </a:rPr>
                        <a:t> </a:t>
                      </a:r>
                      <a:r>
                        <a:rPr lang="hi-IN" sz="900" b="0" kern="1200" dirty="0">
                          <a:solidFill>
                            <a:schemeClr val="dk1"/>
                          </a:solidFill>
                          <a:effectLst/>
                          <a:latin typeface="+mn-lt"/>
                          <a:ea typeface="+mn-ea"/>
                          <a:cs typeface="+mn-cs"/>
                        </a:rPr>
                        <a:t>स्त</a:t>
                      </a:r>
                      <a:r>
                        <a:rPr lang="as-IN" sz="900" b="0" kern="1200" dirty="0">
                          <a:solidFill>
                            <a:srgbClr val="FF0000"/>
                          </a:solidFill>
                          <a:effectLst/>
                          <a:latin typeface="+mn-lt"/>
                          <a:ea typeface="+mn-ea"/>
                          <a:cs typeface="+mn-cs"/>
                        </a:rPr>
                        <a:t>র</a:t>
                      </a:r>
                      <a:r>
                        <a:rPr lang="as-IN" sz="900" b="0" kern="1200" dirty="0">
                          <a:solidFill>
                            <a:schemeClr val="dk1"/>
                          </a:solidFill>
                          <a:effectLst/>
                          <a:latin typeface="+mn-lt"/>
                          <a:ea typeface="+mn-ea"/>
                          <a:cs typeface="+mn-cs"/>
                        </a:rPr>
                        <a:t> </a:t>
                      </a:r>
                      <a:r>
                        <a:rPr lang="hi-IN" sz="900" b="0" kern="1200" dirty="0">
                          <a:solidFill>
                            <a:schemeClr val="dk1"/>
                          </a:solidFill>
                          <a:effectLst/>
                          <a:latin typeface="+mn-lt"/>
                          <a:ea typeface="+mn-ea"/>
                          <a:cs typeface="+mn-cs"/>
                        </a:rPr>
                        <a:t>को लेख बाद एक फिट के लंबाई का वृध्दि हो जाए, तो उनके अभिमानी उम्मीद करते हैं कि नाशित और निर्माण के पुराने वस्था के स्थल पर इस अनुचितता को पुष्तक बनाए जा सकता हूँ।</a:t>
                      </a:r>
                    </a:p>
                    <a:p>
                      <a:endParaRPr lang="hi-IN" sz="900" b="0" kern="1200" dirty="0">
                        <a:solidFill>
                          <a:schemeClr val="dk1"/>
                        </a:solidFill>
                        <a:effectLst/>
                        <a:latin typeface="+mn-lt"/>
                        <a:ea typeface="+mn-ea"/>
                        <a:cs typeface="+mn-cs"/>
                      </a:endParaRPr>
                    </a:p>
                  </a:txBody>
                  <a:tcPr marT="45721" marB="45721">
                    <a:solidFill>
                      <a:schemeClr val="accent1">
                        <a:lumMod val="20000"/>
                        <a:lumOff val="80000"/>
                      </a:schemeClr>
                    </a:solidFill>
                  </a:tcPr>
                </a:tc>
                <a:tc>
                  <a:txBody>
                    <a:bodyPr/>
                    <a:lstStyle/>
                    <a:p>
                      <a:r>
                        <a:rPr lang="en-US" sz="900" b="0" dirty="0">
                          <a:latin typeface="+mn-lt"/>
                          <a:cs typeface="Times New Roman" panose="02020603050405020304" pitchFamily="18" charset="0"/>
                        </a:rPr>
                        <a:t>The model hallucinates by introducing script-level corruption and mistranslating key phrases into incorrect, mixed-language, and semantically distorted outputs that change both meaning and grammatical structure of the original sentence.</a:t>
                      </a:r>
                    </a:p>
                  </a:txBody>
                  <a:tcPr marT="45721" marB="45721">
                    <a:solidFill>
                      <a:schemeClr val="accent1">
                        <a:lumMod val="20000"/>
                        <a:lumOff val="80000"/>
                      </a:schemeClr>
                    </a:solidFill>
                  </a:tcPr>
                </a:tc>
                <a:extLst>
                  <a:ext uri="{0D108BD9-81ED-4DB2-BD59-A6C34878D82A}">
                    <a16:rowId xmlns:a16="http://schemas.microsoft.com/office/drawing/2014/main" xmlns="" val="10005"/>
                  </a:ext>
                </a:extLst>
              </a:tr>
            </a:tbl>
          </a:graphicData>
        </a:graphic>
      </p:graphicFrame>
    </p:spTree>
    <p:extLst>
      <p:ext uri="{BB962C8B-B14F-4D97-AF65-F5344CB8AC3E}">
        <p14:creationId xmlns:p14="http://schemas.microsoft.com/office/powerpoint/2010/main" val="45910025"/>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1</TotalTime>
  <Words>350</Words>
  <Application>Microsoft Office PowerPoint</Application>
  <PresentationFormat>Widescreen</PresentationFormat>
  <Paragraphs>32</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Mangal</vt:lpstr>
      <vt:lpstr>Times New Roman</vt:lpstr>
      <vt:lpstr>Vrinda</vt:lpstr>
      <vt:lpstr>Office 2013 - 2022 Theme</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account</dc:creator>
  <cp:lastModifiedBy>Microsoft account</cp:lastModifiedBy>
  <cp:revision>47</cp:revision>
  <dcterms:created xsi:type="dcterms:W3CDTF">2026-05-23T09:06:13Z</dcterms:created>
  <dcterms:modified xsi:type="dcterms:W3CDTF">2026-07-30T19:30:11Z</dcterms:modified>
</cp:coreProperties>
</file>